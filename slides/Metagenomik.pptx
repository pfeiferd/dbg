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66" r:id="rId15"/>
    <p:sldId id="268" r:id="rId16"/>
    <p:sldId id="280" r:id="rId17"/>
    <p:sldId id="272" r:id="rId18"/>
    <p:sldId id="271" r:id="rId19"/>
    <p:sldId id="288" r:id="rId20"/>
    <p:sldId id="289" r:id="rId21"/>
    <p:sldId id="290" r:id="rId22"/>
    <p:sldId id="292" r:id="rId23"/>
    <p:sldId id="291" r:id="rId24"/>
    <p:sldId id="287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/>
    <p:restoredTop sz="96327"/>
  </p:normalViewPr>
  <p:slideViewPr>
    <p:cSldViewPr snapToGrid="0">
      <p:cViewPr varScale="1">
        <p:scale>
          <a:sx n="128" d="100"/>
          <a:sy n="128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6CE35-9D31-9643-B2A0-8F6BC2CA5408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3103E-A795-9443-9069-AC5EF149C7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62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F41F5-57B0-CC24-172D-24C33E1ED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8777A0-97E6-3D37-0166-0E75FC9A2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584915-E64F-446E-7421-3CE3E99B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58CFAF-6276-F452-AF01-D38CE522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1FD615-298F-1229-0C79-E9275317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427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8F6AA7-550D-663B-13B5-A5E2BC82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4C5146-D15A-6A5B-F73E-46ED3BE9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9C7E34-DBCB-92DB-8C5C-B870B8EF7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25FEE5-BC0A-FEED-4001-91B6291E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Fakultat</a:t>
            </a:r>
            <a:r>
              <a:rPr lang="de-DE" dirty="0"/>
              <a:t> 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A4536D-49BD-3C52-3D5F-40003415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40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EE4A7-9903-8797-CEC5-4F8F5B8C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499360-BBFC-D40B-2497-46A177B93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AD5C9B-DA9D-CBE4-33E9-9D0C85B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B83F3F-CC74-C9A1-9BE5-D12C764D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5788B0-1426-E4E1-3F14-82B6F6CC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98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ED121-D562-4745-8911-04C24ED0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2EC241-AD7B-0943-92EA-34DCD20D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019CDB-A026-BB19-1751-BDB8EA820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39F5C8-841C-ACEE-D4D9-CDBEEC0C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329DFC-1A9D-4F7A-1108-1BD29594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B731B-9C0D-F143-7B23-18EA5F22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05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9EA6D-52E0-DDBA-48D7-E1E79F0C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178988-D2C3-A25D-3DCA-BAD444494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C88D2C-DEC3-0A12-2823-5228AB6FF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E51D35-4F67-4548-3984-082D3288C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63CD9C-4E32-1296-4102-30220BADC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BBADF7E-E750-03E8-7891-5EC96C86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FF5FA7-0AFF-87CA-163D-0076F289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71995B5-2E04-C2C2-B85F-5E7D697C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472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C14C3-B5EF-D8C4-8F38-1FBB48DB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F03916-CA91-76DD-019B-48C05CA7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292CCE-8DD0-A7C9-DB8E-51D43F96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9E9D1B-A367-89E3-11B4-4765602F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63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0A4FD2-8CD6-E55E-6451-14F99AE2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AF82297-6795-5FB3-1092-16A6E242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5EED07-FA88-DD1A-60A3-EE7F7ADE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00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0A994-2F51-6D97-CEAF-F8128470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A2E05F-C607-52D6-CBEE-223C30050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FC463-C89E-5497-D20F-D3C9034AC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78E363-6356-E7AC-144D-7C2B236B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92291D-BCE6-73DB-4322-CBA23BB8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4255CA-0C43-1F8C-DEC4-83B1C691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23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D536C-B9F0-1A86-DF80-0E2AB1E9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0C0BC99-5567-0766-C404-8851442ED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B2AD29-9BC4-6783-B7CB-3A0C331BD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B2478F-B421-A23E-D88B-757AB1B2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04510E-FEE1-0AFD-6DD4-B6F577A3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E80889-061E-3AC7-E66C-A9DF2B8C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00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C36A9-5440-1F74-22F3-75033179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2289DA-27BB-E538-4C6D-CBCB433A0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3160AE-F5A2-E71B-3A5B-AA703DB2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4CD988-F308-EB88-E826-F4170C8E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0584A5-83F1-32E9-A5F8-1CD98AF6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86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6CF1F2-DE81-AB5C-A3B4-3224301C5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DAA3D8-EE2C-1459-6A82-C9E8F6B11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058BA6-B860-8B19-6019-21840E53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645019-EF38-44D5-CB40-2ECA3229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25F287-7354-E9DF-930E-59B97BE0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054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1D4BDD-B229-FFCF-FBE0-DCBEDFFE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B28C15-9EFF-E8A9-14A1-728925B93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732604-DEDC-CBC6-DEF2-0BC9A095D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F78EB-96E6-1E4C-882E-357B28756050}" type="datetimeFigureOut">
              <a:rPr lang="de-DE" smtClean="0"/>
              <a:t>20.06.24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913031-E166-AA7B-1AA3-56A902243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90AF20-D0A2-63A9-744D-209FE0C21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0FCE7-52D3-7647-AFA9-2971C1BE11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34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5467428" TargetMode="External"/><Relationship Id="rId2" Type="http://schemas.openxmlformats.org/officeDocument/2006/relationships/hyperlink" Target="https://www.hs-heilbronn.de/daniel.pfeif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projects/parasites/csv/parasites_dbinfo.csv" TargetMode="External"/><Relationship Id="rId2" Type="http://schemas.openxmlformats.org/officeDocument/2006/relationships/hyperlink" Target="projects/protozoa/csv/protozoa_dbinfo.csv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projects/human_virus2/csv/human_virus2_dbinfo.csv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anoporetech.com/products/sequence/min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cbi.nlm.nih.gov/home/download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cbi.nlm.nih.gov/taxonomy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cbi.nlm.nih.gov/data-hub/taxonomy/tree/?taxon=64895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feiferd/genestrip" TargetMode="External"/><Relationship Id="rId2" Type="http://schemas.openxmlformats.org/officeDocument/2006/relationships/hyperlink" Target="https://github.com/fbreitwieser/krakenuni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k.de/techniker/gesundheit-und-medizin/igv-vertraege/praezisionsmedizin-infektionsdiagnostik-2032576" TargetMode="External"/><Relationship Id="rId2" Type="http://schemas.openxmlformats.org/officeDocument/2006/relationships/hyperlink" Target="https://www.igb.fraunhofer.de/de/forschung/in-vitro-diagnostik/next-generation-diagnostics/infektionsdiagnostik-mit-next-generation-sequencing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salzberg-lab.org/" TargetMode="External"/><Relationship Id="rId4" Type="http://schemas.openxmlformats.org/officeDocument/2006/relationships/hyperlink" Target="https://noscendo.com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" Type="http://schemas.openxmlformats.org/officeDocument/2006/relationships/image" Target="../media/image5.svg"/><Relationship Id="rId21" Type="http://schemas.openxmlformats.org/officeDocument/2006/relationships/image" Target="../media/image23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22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3-37134-9" TargetMode="External"/><Relationship Id="rId2" Type="http://schemas.openxmlformats.org/officeDocument/2006/relationships/hyperlink" Target="https://github.com/pfeiferd/genestri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projects/chronicb/csv/chronicb_matchlr_tick6.csv" TargetMode="External"/><Relationship Id="rId4" Type="http://schemas.openxmlformats.org/officeDocument/2006/relationships/hyperlink" Target="projects/chronicb/csv/chronicb_matchlr_tick3.csv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gl.bayern.de/gesundheit/infektionsschutz/infektionskrankheiten_a_z/borreliose/nrz_borrelien.htm" TargetMode="External"/><Relationship Id="rId7" Type="http://schemas.openxmlformats.org/officeDocument/2006/relationships/image" Target="../media/image26.png"/><Relationship Id="rId2" Type="http://schemas.openxmlformats.org/officeDocument/2006/relationships/hyperlink" Target="projects/vineyard/csv/vineyard_dbinfo.csv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D962D-0506-C89A-230C-9B919B07F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4236" y="1745672"/>
            <a:ext cx="9144000" cy="1835728"/>
          </a:xfrm>
        </p:spPr>
        <p:txBody>
          <a:bodyPr/>
          <a:lstStyle/>
          <a:p>
            <a:r>
              <a:rPr lang="de-DE" dirty="0" err="1"/>
              <a:t>Metagenomische</a:t>
            </a:r>
            <a:r>
              <a:rPr lang="de-DE" dirty="0"/>
              <a:t> Erregerdiagnostik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83D148-2BC6-7F92-B100-3282D8A45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6381" y="3851491"/>
            <a:ext cx="4745183" cy="1655762"/>
          </a:xfrm>
        </p:spPr>
        <p:txBody>
          <a:bodyPr>
            <a:normAutofit/>
          </a:bodyPr>
          <a:lstStyle/>
          <a:p>
            <a:r>
              <a:rPr lang="de-DE" dirty="0"/>
              <a:t>Prof. Dr. Daniel Pfeifer</a:t>
            </a:r>
          </a:p>
          <a:p>
            <a:r>
              <a:rPr lang="de-DE" dirty="0"/>
              <a:t>Fakultät IT, Medizinische Informatik</a:t>
            </a:r>
          </a:p>
          <a:p>
            <a:r>
              <a:rPr lang="de-DE" dirty="0"/>
              <a:t>21.6.2024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5AEB568-BC31-E19E-6D85-057786FF4C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7D2AC1A-D372-E4DA-7D5F-ECD3C70D2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659" y="0"/>
            <a:ext cx="3538341" cy="16557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C77DD9-430E-E320-71CA-8904FEA5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5672"/>
            <a:ext cx="6077899" cy="403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8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3ABBD-DA0D-8D23-5BC2-5B3CC721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Kurz zu mir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AF8A7D-6C38-DD76-FBBF-526AB89E3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Seit 2007 Prof. für angewandte Informatik an der Hochschule Heilbronn</a:t>
            </a:r>
          </a:p>
          <a:p>
            <a:pPr lvl="1"/>
            <a:r>
              <a:rPr lang="de-DE" sz="1800" dirty="0"/>
              <a:t>Fächer: Datenbanken, Software Entwicklung, KI, Maschinelles Lernen</a:t>
            </a:r>
          </a:p>
          <a:p>
            <a:pPr marL="457200" lvl="1" indent="0">
              <a:buNone/>
            </a:pPr>
            <a:r>
              <a:rPr lang="de-DE" sz="1800" dirty="0"/>
              <a:t>	</a:t>
            </a:r>
            <a:r>
              <a:rPr lang="de-DE" sz="1800" dirty="0">
                <a:hlinkClick r:id="rId2"/>
              </a:rPr>
              <a:t>https://</a:t>
            </a:r>
            <a:r>
              <a:rPr lang="de-DE" sz="1800" dirty="0" err="1">
                <a:hlinkClick r:id="rId2"/>
              </a:rPr>
              <a:t>www.hs-heilbronn.de</a:t>
            </a:r>
            <a:r>
              <a:rPr lang="de-DE" sz="1800" dirty="0">
                <a:hlinkClick r:id="rId2"/>
              </a:rPr>
              <a:t>/</a:t>
            </a:r>
            <a:r>
              <a:rPr lang="de-DE" sz="1800" dirty="0" err="1">
                <a:hlinkClick r:id="rId2"/>
              </a:rPr>
              <a:t>daniel.pfeifer</a:t>
            </a:r>
            <a:endParaRPr lang="de-DE" sz="1800" dirty="0"/>
          </a:p>
          <a:p>
            <a:r>
              <a:rPr lang="de-DE" sz="2000" dirty="0"/>
              <a:t>Vor 8 Jahren seltsame Krankheit mit neurologischen Symptomen</a:t>
            </a:r>
          </a:p>
          <a:p>
            <a:pPr lvl="1"/>
            <a:r>
              <a:rPr lang="de-DE" sz="1800" dirty="0"/>
              <a:t>Ein Jahr keine Diagnose – trotz diverser Besuche bei hoch angesehenen klinischen </a:t>
            </a:r>
            <a:r>
              <a:rPr lang="de-DE" sz="1800" dirty="0" err="1"/>
              <a:t>Neurologien</a:t>
            </a:r>
            <a:r>
              <a:rPr lang="de-DE" sz="1800" dirty="0"/>
              <a:t>,</a:t>
            </a:r>
          </a:p>
          <a:p>
            <a:pPr lvl="1"/>
            <a:r>
              <a:rPr lang="de-DE" sz="1800" dirty="0"/>
              <a:t>dann (endlich) über Umwege Verdachtsdiagnose „Neuroborreliose“ – eine Infektionskrankheit,</a:t>
            </a:r>
          </a:p>
          <a:p>
            <a:pPr lvl="1"/>
            <a:r>
              <a:rPr lang="de-DE" sz="1800" dirty="0"/>
              <a:t>Ergebnisse hoch spezialisierter Labors erhärten den Verdacht,</a:t>
            </a:r>
          </a:p>
          <a:p>
            <a:pPr lvl="1"/>
            <a:r>
              <a:rPr lang="de-DE" sz="1800" dirty="0"/>
              <a:t>ebenso Therapieerfolge mit Antibiotika…</a:t>
            </a:r>
            <a:endParaRPr lang="de-DE" sz="2000" dirty="0"/>
          </a:p>
          <a:p>
            <a:r>
              <a:rPr lang="de-DE" sz="2000" dirty="0"/>
              <a:t>Fazit: </a:t>
            </a:r>
            <a:r>
              <a:rPr lang="de-DE" sz="2000" b="1" dirty="0"/>
              <a:t>Manche chronische Infektionen scheinen auch heute noch schwer diagnostizierbar </a:t>
            </a:r>
            <a:r>
              <a:rPr lang="de-DE" sz="2000" dirty="0"/>
              <a:t>zu sein</a:t>
            </a:r>
          </a:p>
          <a:p>
            <a:pPr lvl="1">
              <a:buFont typeface="Wingdings" pitchFamily="2" charset="2"/>
              <a:buChar char="à"/>
            </a:pPr>
            <a:r>
              <a:rPr lang="de-DE" sz="1800" dirty="0"/>
              <a:t>Viele Menschen sind (schwer) krank, ohne Diagnose und ohne (passende) Therapie</a:t>
            </a:r>
          </a:p>
          <a:p>
            <a:pPr lvl="1">
              <a:buFont typeface="Wingdings" pitchFamily="2" charset="2"/>
              <a:buChar char="à"/>
            </a:pPr>
            <a:r>
              <a:rPr lang="de-DE" sz="1800" dirty="0"/>
              <a:t>Existenz mancher chronischer Infektionsformen immer noch umstritten</a:t>
            </a:r>
          </a:p>
          <a:p>
            <a:pPr lvl="1">
              <a:buFont typeface="Wingdings" pitchFamily="2" charset="2"/>
              <a:buChar char="à"/>
            </a:pPr>
            <a:r>
              <a:rPr lang="de-DE" sz="1800" dirty="0"/>
              <a:t>Die (schwer therapierbare) chronische Borreliose ist jedoch mittlerweile wiss. sehr gut nachgewiesen</a:t>
            </a:r>
          </a:p>
          <a:p>
            <a:pPr marL="457200" lvl="1" indent="0">
              <a:buNone/>
            </a:pPr>
            <a:r>
              <a:rPr lang="de-DE" sz="1800" dirty="0"/>
              <a:t>	(</a:t>
            </a:r>
            <a:r>
              <a:rPr lang="de-DE" sz="1800" dirty="0" err="1"/>
              <a:t>Embers</a:t>
            </a:r>
            <a:r>
              <a:rPr lang="de-DE" sz="1800" dirty="0"/>
              <a:t> et al., Tulane Univ., 2022: </a:t>
            </a:r>
            <a:r>
              <a:rPr lang="de-DE" sz="1800" dirty="0">
                <a:hlinkClick r:id="rId3"/>
              </a:rPr>
              <a:t>https://pubmed.ncbi.nlm.nih.gov/35467428</a:t>
            </a:r>
            <a:r>
              <a:rPr lang="de-DE" sz="1800" dirty="0"/>
              <a:t>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F9792A-15BD-4035-0563-517EECEBE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6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0E5C0-E260-5A15-2B59-CEED12BD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Chronische Infektionen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31B945-94BF-BB93-8EE8-8EBB52B08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sz="2400" dirty="0"/>
              <a:t>Viele latente bzw. chronische Infektionen sind möglich:</a:t>
            </a:r>
          </a:p>
          <a:p>
            <a:r>
              <a:rPr lang="de-DE" sz="2400" dirty="0"/>
              <a:t>Bakteriell (Borreliose, </a:t>
            </a:r>
            <a:r>
              <a:rPr lang="de-DE" sz="2400" dirty="0" err="1"/>
              <a:t>Bartonellose</a:t>
            </a:r>
            <a:r>
              <a:rPr lang="de-DE" sz="2400" dirty="0"/>
              <a:t>, </a:t>
            </a:r>
            <a:r>
              <a:rPr lang="de-DE" sz="2400" dirty="0" err="1"/>
              <a:t>Mykoplasmose</a:t>
            </a:r>
            <a:r>
              <a:rPr lang="de-DE" sz="2400" dirty="0"/>
              <a:t> usw.)</a:t>
            </a:r>
          </a:p>
          <a:p>
            <a:r>
              <a:rPr lang="de-DE" sz="2400" dirty="0"/>
              <a:t>Parasitär (</a:t>
            </a:r>
            <a:r>
              <a:rPr lang="de-DE" sz="2400" dirty="0">
                <a:hlinkClick r:id="rId2"/>
              </a:rPr>
              <a:t>Babesien / Malaria</a:t>
            </a:r>
            <a:r>
              <a:rPr lang="de-DE" sz="2400" dirty="0"/>
              <a:t>, </a:t>
            </a:r>
            <a:r>
              <a:rPr lang="de-DE" sz="2400" dirty="0">
                <a:hlinkClick r:id="rId3"/>
              </a:rPr>
              <a:t>Würmer</a:t>
            </a:r>
            <a:r>
              <a:rPr lang="de-DE" sz="2400" dirty="0"/>
              <a:t>, …)</a:t>
            </a:r>
          </a:p>
          <a:p>
            <a:r>
              <a:rPr lang="de-DE" sz="2400" dirty="0">
                <a:hlinkClick r:id="rId4"/>
              </a:rPr>
              <a:t>Viral</a:t>
            </a:r>
            <a:r>
              <a:rPr lang="de-DE" sz="2400" dirty="0"/>
              <a:t> (Corona, EBV, Zoster, …)</a:t>
            </a:r>
          </a:p>
          <a:p>
            <a:pPr marL="0" indent="0">
              <a:buNone/>
            </a:pPr>
            <a:r>
              <a:rPr lang="de-DE" sz="2400" dirty="0"/>
              <a:t>Die Symptombilder überschneiden sich oft – ein Rätselraten!</a:t>
            </a:r>
          </a:p>
          <a:p>
            <a:r>
              <a:rPr lang="de-DE" sz="2400" dirty="0"/>
              <a:t>Medikamentöse Behandlung aber sehr unterschiedlich – daher müssen die Erreger genau bekannt sein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C717B23-0DDE-88CF-E8B1-7943BD1A3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6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F41F2-4DB6-672C-5A4B-1ED4D64E9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Existierende Erreger-Tests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46C6F1-ADDA-52D3-B0F3-D55CBB441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sz="2300" b="1" dirty="0"/>
              <a:t>PCR</a:t>
            </a:r>
            <a:r>
              <a:rPr lang="de-DE" sz="2300" dirty="0"/>
              <a:t>: Suche nach spezifische DNA-Fragmenten</a:t>
            </a:r>
          </a:p>
          <a:p>
            <a:pPr lvl="1"/>
            <a:r>
              <a:rPr lang="de-DE" sz="2100" dirty="0"/>
              <a:t>Oft hoch spezifisch bzgl. einer Spezies – aber z.B. bei „Borreliose“ gibt es viele pathogene Spezies</a:t>
            </a:r>
          </a:p>
          <a:p>
            <a:r>
              <a:rPr lang="de-DE" sz="2300" b="1" dirty="0"/>
              <a:t>Antikörper</a:t>
            </a:r>
            <a:r>
              <a:rPr lang="de-DE" sz="2300" dirty="0"/>
              <a:t>: Nachweis von Antikörpern gegen Oberflächenstrukturen eines Erregers</a:t>
            </a:r>
          </a:p>
          <a:p>
            <a:pPr lvl="1"/>
            <a:r>
              <a:rPr lang="de-DE" sz="2100" dirty="0"/>
              <a:t>Ebenso häufig zu spezifisch - z.B. wegen mannigfaltiger Oberflächenstrukturen</a:t>
            </a:r>
          </a:p>
          <a:p>
            <a:pPr lvl="1"/>
            <a:r>
              <a:rPr lang="de-DE" sz="2100" dirty="0"/>
              <a:t>Funktioniert evtl. nicht wegen Immunsuppression (etwa ausgelöst durch die Infektion selbst)</a:t>
            </a:r>
          </a:p>
          <a:p>
            <a:pPr lvl="1"/>
            <a:r>
              <a:rPr lang="de-DE" sz="2100" dirty="0"/>
              <a:t>Stattgehabte und aktive Infektion schwer unterscheidbar</a:t>
            </a:r>
          </a:p>
          <a:p>
            <a:r>
              <a:rPr lang="de-DE" sz="2300" b="1" dirty="0"/>
              <a:t>Leukozyten-Transformation (LTT)</a:t>
            </a:r>
          </a:p>
          <a:p>
            <a:pPr lvl="1"/>
            <a:r>
              <a:rPr lang="de-DE" sz="1900" dirty="0" err="1"/>
              <a:t>Getested</a:t>
            </a:r>
            <a:r>
              <a:rPr lang="de-DE" sz="1900" dirty="0"/>
              <a:t> wird die Reaktion der </a:t>
            </a:r>
            <a:r>
              <a:rPr lang="de-DE" sz="1900" dirty="0" err="1"/>
              <a:t>Immunssystem</a:t>
            </a:r>
            <a:r>
              <a:rPr lang="de-DE" sz="1900" dirty="0"/>
              <a:t> auf die Präsentation des Antigens eines Erregers (man braucht „frisches“ Blut)</a:t>
            </a:r>
          </a:p>
          <a:p>
            <a:pPr lvl="1"/>
            <a:r>
              <a:rPr lang="de-DE" sz="2100" dirty="0"/>
              <a:t>Stattgehabte und aktive Infektion schwer unterscheidbar</a:t>
            </a:r>
          </a:p>
          <a:p>
            <a:pPr lvl="1"/>
            <a:r>
              <a:rPr lang="de-DE" sz="2100" dirty="0"/>
              <a:t>Bei manchen Infektionen klinisch nicht anerkannt, bei anderen schon (warum auch immer)</a:t>
            </a:r>
          </a:p>
          <a:p>
            <a:r>
              <a:rPr lang="de-DE" sz="2300" b="1" dirty="0"/>
              <a:t>Mikroskop</a:t>
            </a:r>
            <a:r>
              <a:rPr lang="de-DE" sz="2300" dirty="0"/>
              <a:t> („Vitalblut“, Blutausstrich) – „aus der Mode“</a:t>
            </a:r>
          </a:p>
          <a:p>
            <a:pPr lvl="1"/>
            <a:r>
              <a:rPr lang="de-DE" sz="2100" dirty="0"/>
              <a:t>So haben es Paul Ehrlich und Robert Koch noch gemacht</a:t>
            </a:r>
          </a:p>
          <a:p>
            <a:pPr lvl="1"/>
            <a:r>
              <a:rPr lang="de-DE" sz="2100" dirty="0"/>
              <a:t>So hat man z.B. die </a:t>
            </a:r>
            <a:r>
              <a:rPr lang="de-DE" sz="2100" dirty="0" err="1"/>
              <a:t>Syphillis</a:t>
            </a:r>
            <a:r>
              <a:rPr lang="de-DE" sz="2100" dirty="0"/>
              <a:t> entdeckt</a:t>
            </a:r>
          </a:p>
          <a:p>
            <a:pPr lvl="1"/>
            <a:r>
              <a:rPr lang="de-DE" sz="2100" dirty="0"/>
              <a:t>Funktioniert, aber sehr aufwändig, kann heute fast niemand mehr…</a:t>
            </a:r>
          </a:p>
          <a:p>
            <a:pPr lvl="1"/>
            <a:r>
              <a:rPr lang="de-DE" sz="2100" dirty="0"/>
              <a:t>Teilweise sehr umstritten – u.a. weil manche Erreger evtl. nicht im Blut sind (aber evtl. im Gewebe)</a:t>
            </a:r>
          </a:p>
          <a:p>
            <a:r>
              <a:rPr lang="de-DE" sz="2200" b="1" dirty="0"/>
              <a:t>Biopsie</a:t>
            </a:r>
            <a:r>
              <a:rPr lang="de-DE" sz="2500" dirty="0"/>
              <a:t> in Verbindung mit PCR…</a:t>
            </a:r>
          </a:p>
          <a:p>
            <a:pPr lvl="1"/>
            <a:r>
              <a:rPr lang="de-DE" sz="2100" dirty="0"/>
              <a:t>Aufwändig… / nur bei „Apriori-Verdacht“ auf entspr. Erreger</a:t>
            </a:r>
          </a:p>
          <a:p>
            <a:pPr marL="0" indent="0">
              <a:buNone/>
            </a:pPr>
            <a:r>
              <a:rPr lang="de-DE" sz="2300" dirty="0"/>
              <a:t>Nur PCR (und evtl. Mikroskopie) weisen einen Erreger direkt nach!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6DC16E8-0E5A-396C-7662-B98C318A6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624E90-67E2-2653-A1B2-D29B6237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33C59C-F70A-AC50-01D0-5F60BED83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belastbarer Test für viele (gar ALLE?) möglichen Infektionen</a:t>
            </a:r>
          </a:p>
          <a:p>
            <a:r>
              <a:rPr lang="de-DE" dirty="0"/>
              <a:t>Direktnachweis (nicht etwa über den „Umweg“ des Immunsystems)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2D07285-156D-6301-968D-945A257B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7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42754-F99D-C251-40E2-28DAE9E9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Metagenomik</a:t>
            </a:r>
            <a:r>
              <a:rPr lang="de-DE" dirty="0"/>
              <a:t> und Genome </a:t>
            </a:r>
            <a:r>
              <a:rPr lang="de-DE" dirty="0" err="1"/>
              <a:t>Sequencing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A3B9BA-246E-E3B7-FC5E-4C694849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Idee: Analysiere alle DNA, die man aus einer Probe „herausholen“ kann</a:t>
            </a:r>
          </a:p>
          <a:p>
            <a:pPr lvl="1"/>
            <a:r>
              <a:rPr lang="de-DE" dirty="0"/>
              <a:t>Denn alle Lebewesen, die darin vorkamen hinterlassen DNA-Spuren…</a:t>
            </a:r>
          </a:p>
          <a:p>
            <a:r>
              <a:rPr lang="de-DE" dirty="0"/>
              <a:t>Und das gehe mittlerweile recht einfach!</a:t>
            </a:r>
          </a:p>
          <a:p>
            <a:r>
              <a:rPr lang="de-DE" dirty="0"/>
              <a:t>Die neuesten Geräte zur DNA-</a:t>
            </a:r>
            <a:r>
              <a:rPr lang="de-DE" dirty="0" err="1"/>
              <a:t>Sequencierung</a:t>
            </a:r>
            <a:r>
              <a:rPr lang="de-DE" dirty="0"/>
              <a:t> sind</a:t>
            </a:r>
          </a:p>
          <a:p>
            <a:pPr lvl="1"/>
            <a:r>
              <a:rPr lang="de-DE" dirty="0"/>
              <a:t>klein,</a:t>
            </a:r>
          </a:p>
          <a:p>
            <a:pPr lvl="1"/>
            <a:r>
              <a:rPr lang="de-DE" dirty="0"/>
              <a:t>kostengünstig (ca. 2000 Euro),</a:t>
            </a:r>
          </a:p>
          <a:p>
            <a:pPr lvl="1"/>
            <a:r>
              <a:rPr lang="de-DE" dirty="0"/>
              <a:t>relativ einfach und überall einsetzbar und</a:t>
            </a:r>
          </a:p>
          <a:p>
            <a:pPr lvl="1"/>
            <a:r>
              <a:rPr lang="de-DE" dirty="0"/>
              <a:t>liefern hochwertige DNA-Daten</a:t>
            </a:r>
          </a:p>
          <a:p>
            <a:r>
              <a:rPr lang="de-DE" dirty="0"/>
              <a:t>Beispiel </a:t>
            </a:r>
            <a:r>
              <a:rPr lang="de-DE" dirty="0" err="1"/>
              <a:t>MinION</a:t>
            </a:r>
            <a:r>
              <a:rPr lang="de-DE" dirty="0"/>
              <a:t> von </a:t>
            </a:r>
            <a:r>
              <a:rPr lang="de-DE" dirty="0" err="1"/>
              <a:t>Nanopore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>
                <a:hlinkClick r:id="rId2"/>
              </a:rPr>
              <a:t>https://</a:t>
            </a:r>
            <a:r>
              <a:rPr lang="de-DE" dirty="0" err="1">
                <a:hlinkClick r:id="rId2"/>
              </a:rPr>
              <a:t>nanoporetech.com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products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sequence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minion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C0A14D-7375-9C92-285A-8B4CC71AB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7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284D3-3C90-32CB-4F15-826A6B008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868"/>
            <a:ext cx="10515600" cy="1325563"/>
          </a:xfrm>
        </p:spPr>
        <p:txBody>
          <a:bodyPr/>
          <a:lstStyle/>
          <a:p>
            <a:r>
              <a:rPr lang="de-DE" dirty="0"/>
              <a:t>Wie sehen die gewonnenen DNA-Daten aus?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E091D3-258A-4BA7-B2DE-71BC2AE0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de-D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3200" dirty="0">
                <a:latin typeface="+mj-lt"/>
                <a:cs typeface="Courier New" panose="02070309020205020404" pitchFamily="49" charset="0"/>
              </a:rPr>
              <a:t>Ausschnitte aus einer „</a:t>
            </a:r>
            <a:r>
              <a:rPr lang="de-DE" sz="3200" dirty="0" err="1">
                <a:latin typeface="+mj-lt"/>
                <a:cs typeface="Courier New" panose="02070309020205020404" pitchFamily="49" charset="0"/>
              </a:rPr>
              <a:t>fastq</a:t>
            </a:r>
            <a:r>
              <a:rPr lang="de-DE" sz="3200" dirty="0">
                <a:latin typeface="+mj-lt"/>
                <a:cs typeface="Courier New" panose="02070309020205020404" pitchFamily="49" charset="0"/>
              </a:rPr>
              <a:t>“-Datei – ein sogenannter Read:</a:t>
            </a:r>
          </a:p>
          <a:p>
            <a:pPr marL="0" indent="0">
              <a:buNone/>
            </a:pPr>
            <a:endParaRPr lang="de-D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@SRR001666.1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GGGTGATGGCCGCTGCCGATGGCGTCAAATCCCACC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IIIIIIIIIIIIIIIIIIIIIIIIIIIIII9IG9IC </a:t>
            </a:r>
          </a:p>
          <a:p>
            <a:pPr marL="0" indent="0">
              <a:buNone/>
            </a:pPr>
            <a:endParaRPr lang="de-D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3200" dirty="0">
                <a:latin typeface="+mj-lt"/>
                <a:cs typeface="Courier New" panose="02070309020205020404" pitchFamily="49" charset="0"/>
              </a:rPr>
              <a:t>Produzierte </a:t>
            </a:r>
            <a:r>
              <a:rPr lang="de-DE" sz="3200" dirty="0" err="1">
                <a:latin typeface="+mj-lt"/>
                <a:cs typeface="Courier New" panose="02070309020205020404" pitchFamily="49" charset="0"/>
              </a:rPr>
              <a:t>Fastq</a:t>
            </a:r>
            <a:r>
              <a:rPr lang="de-DE" sz="3200" dirty="0">
                <a:latin typeface="+mj-lt"/>
                <a:cs typeface="Courier New" panose="02070309020205020404" pitchFamily="49" charset="0"/>
              </a:rPr>
              <a:t>-Dateien sind oft riesig:</a:t>
            </a:r>
          </a:p>
          <a:p>
            <a:pPr marL="0" indent="0">
              <a:buNone/>
            </a:pPr>
            <a:r>
              <a:rPr lang="de-DE" sz="3200" dirty="0">
                <a:latin typeface="+mj-lt"/>
                <a:cs typeface="Courier New" panose="02070309020205020404" pitchFamily="49" charset="0"/>
              </a:rPr>
              <a:t>&gt; 50 GB, Milliarden von Reads…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4BAA5EA-C2FC-6B21-D77E-07ECD28C9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60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F7DE76-0FED-FE74-4D0A-64AF2BFC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437"/>
            <a:ext cx="10515600" cy="1325563"/>
          </a:xfrm>
        </p:spPr>
        <p:txBody>
          <a:bodyPr/>
          <a:lstStyle/>
          <a:p>
            <a:r>
              <a:rPr lang="de-DE" dirty="0"/>
              <a:t>Reads – die gelesenen „DNA-Schnipsel“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7D12D8-1CDD-1AAF-B63E-6047BA6D6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351338"/>
          </a:xfrm>
        </p:spPr>
        <p:txBody>
          <a:bodyPr>
            <a:normAutofit/>
          </a:bodyPr>
          <a:lstStyle/>
          <a:p>
            <a:r>
              <a:rPr lang="de-DE" sz="2400" dirty="0"/>
              <a:t>Teile eines gelesenen DNA-Bruchstücks</a:t>
            </a:r>
          </a:p>
          <a:p>
            <a:r>
              <a:rPr lang="de-DE" sz="2400" dirty="0"/>
              <a:t>Früher zwischen 150 und 200 Basenpaare lang („CGAT“…)</a:t>
            </a:r>
          </a:p>
          <a:p>
            <a:pPr lvl="1"/>
            <a:r>
              <a:rPr lang="de-DE" sz="2000" dirty="0"/>
              <a:t>Mit neueren Geräten bis zu 30.000 Basenpaare!</a:t>
            </a:r>
          </a:p>
          <a:p>
            <a:r>
              <a:rPr lang="de-DE" sz="2400" dirty="0"/>
              <a:t>Aber: DNA-Fragmente sind meist noch länger – es wird technisch bedingt aber nur der Anfang (und evtl. das Ende) gelesen:</a:t>
            </a:r>
          </a:p>
        </p:txBody>
      </p:sp>
      <p:cxnSp>
        <p:nvCxnSpPr>
          <p:cNvPr id="5" name="Gekrümmte Verbindung 4">
            <a:extLst>
              <a:ext uri="{FF2B5EF4-FFF2-40B4-BE49-F238E27FC236}">
                <a16:creationId xmlns:a16="http://schemas.microsoft.com/office/drawing/2014/main" id="{777039FD-4D57-7037-F688-6B40282115DF}"/>
              </a:ext>
            </a:extLst>
          </p:cNvPr>
          <p:cNvCxnSpPr/>
          <p:nvPr/>
        </p:nvCxnSpPr>
        <p:spPr>
          <a:xfrm>
            <a:off x="2753802" y="4839018"/>
            <a:ext cx="5462016" cy="487680"/>
          </a:xfrm>
          <a:prstGeom prst="curvedConnector3">
            <a:avLst/>
          </a:prstGeom>
          <a:ln w="139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C283ED7-7A19-E32E-FD64-01C8D019F23D}"/>
              </a:ext>
            </a:extLst>
          </p:cNvPr>
          <p:cNvSpPr/>
          <p:nvPr/>
        </p:nvSpPr>
        <p:spPr>
          <a:xfrm>
            <a:off x="6874699" y="5082858"/>
            <a:ext cx="1341119" cy="426720"/>
          </a:xfrm>
          <a:prstGeom prst="rect">
            <a:avLst/>
          </a:prstGeom>
          <a:solidFill>
            <a:schemeClr val="accent2">
              <a:lumMod val="60000"/>
              <a:lumOff val="40000"/>
              <a:alpha val="41552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0AD5704-9A0A-3C25-C376-94AAF4E36ED8}"/>
              </a:ext>
            </a:extLst>
          </p:cNvPr>
          <p:cNvSpPr/>
          <p:nvPr/>
        </p:nvSpPr>
        <p:spPr>
          <a:xfrm>
            <a:off x="2753802" y="4656138"/>
            <a:ext cx="1341119" cy="426720"/>
          </a:xfrm>
          <a:prstGeom prst="rect">
            <a:avLst/>
          </a:prstGeom>
          <a:solidFill>
            <a:schemeClr val="accent2">
              <a:lumMod val="60000"/>
              <a:lumOff val="40000"/>
              <a:alpha val="41552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eschweifte Klammer rechts 8">
            <a:extLst>
              <a:ext uri="{FF2B5EF4-FFF2-40B4-BE49-F238E27FC236}">
                <a16:creationId xmlns:a16="http://schemas.microsoft.com/office/drawing/2014/main" id="{E7FEF819-6B44-448E-2836-94195FF56B40}"/>
              </a:ext>
            </a:extLst>
          </p:cNvPr>
          <p:cNvSpPr/>
          <p:nvPr/>
        </p:nvSpPr>
        <p:spPr>
          <a:xfrm rot="16200000">
            <a:off x="5119050" y="1650810"/>
            <a:ext cx="731520" cy="5462016"/>
          </a:xfrm>
          <a:prstGeom prst="rightBrace">
            <a:avLst>
              <a:gd name="adj1" fmla="val 60965"/>
              <a:gd name="adj2" fmla="val 5111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A22E724-51A0-271D-5F8E-ACED89734EA6}"/>
              </a:ext>
            </a:extLst>
          </p:cNvPr>
          <p:cNvSpPr txBox="1"/>
          <p:nvPr/>
        </p:nvSpPr>
        <p:spPr>
          <a:xfrm>
            <a:off x="4831142" y="3648511"/>
            <a:ext cx="2298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Ganzes DNA-Fragment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3C8546B-3CE3-FFF4-27DB-C36420976CD6}"/>
              </a:ext>
            </a:extLst>
          </p:cNvPr>
          <p:cNvSpPr txBox="1"/>
          <p:nvPr/>
        </p:nvSpPr>
        <p:spPr>
          <a:xfrm>
            <a:off x="3012645" y="5115124"/>
            <a:ext cx="82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Read 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D4678A-F8DE-5CB9-6189-DEC58289CC8C}"/>
              </a:ext>
            </a:extLst>
          </p:cNvPr>
          <p:cNvSpPr txBox="1"/>
          <p:nvPr/>
        </p:nvSpPr>
        <p:spPr>
          <a:xfrm>
            <a:off x="7133542" y="5541844"/>
            <a:ext cx="82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Read 2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C29EF5B-7BCA-99F4-BC9E-7A044360719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836076" y="5299790"/>
            <a:ext cx="3297466" cy="426720"/>
          </a:xfrm>
          <a:prstGeom prst="straightConnector1">
            <a:avLst/>
          </a:prstGeom>
          <a:ln w="1905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C7DB998-7816-FBDE-CE44-C5F07AA91641}"/>
              </a:ext>
            </a:extLst>
          </p:cNvPr>
          <p:cNvSpPr txBox="1"/>
          <p:nvPr/>
        </p:nvSpPr>
        <p:spPr>
          <a:xfrm>
            <a:off x="5031159" y="5556402"/>
            <a:ext cx="90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gepaart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5479659-D2E6-466E-B30A-D2D90791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63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D64F5-6824-D028-B470-36051493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 kommt die DNA her?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78AC57-5306-C478-E023-069870EA3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Von </a:t>
            </a:r>
            <a:r>
              <a:rPr lang="de-DE" b="1" dirty="0"/>
              <a:t>allen</a:t>
            </a:r>
            <a:r>
              <a:rPr lang="de-DE" dirty="0"/>
              <a:t> (zerfallenen) Zellen (+ evtl. Viren) in der Probe!</a:t>
            </a:r>
          </a:p>
          <a:p>
            <a:r>
              <a:rPr lang="de-DE" dirty="0"/>
              <a:t>Bei menschlicher Blutprobe </a:t>
            </a:r>
            <a:r>
              <a:rPr lang="de-DE" dirty="0" err="1"/>
              <a:t>großteils</a:t>
            </a:r>
            <a:r>
              <a:rPr lang="de-DE" dirty="0"/>
              <a:t> menschliche DNA…</a:t>
            </a:r>
          </a:p>
          <a:p>
            <a:pPr marL="0" indent="0">
              <a:buNone/>
            </a:pPr>
            <a:r>
              <a:rPr lang="de-DE" dirty="0"/>
              <a:t>   …und der Rest?</a:t>
            </a:r>
          </a:p>
          <a:p>
            <a:pPr lvl="1"/>
            <a:r>
              <a:rPr lang="de-DE" dirty="0"/>
              <a:t>Bei einer Spuckprobe können ca. 1 bis 5% der Reads NICHT dem Menschen zugeordnet werden.</a:t>
            </a:r>
          </a:p>
          <a:p>
            <a:pPr lvl="1"/>
            <a:r>
              <a:rPr lang="de-DE" dirty="0"/>
              <a:t>Aus dem Essen (Fleisch, Pflanzen, Milchsäurebakterien), Darmbakterien usw.</a:t>
            </a:r>
          </a:p>
          <a:p>
            <a:pPr lvl="1"/>
            <a:r>
              <a:rPr lang="de-DE" dirty="0"/>
              <a:t>Im Blut kann es sich ähnlich verhalten, aber „eigentlich“ sollte Blut beinahe steril sein</a:t>
            </a:r>
          </a:p>
          <a:p>
            <a:pPr marL="914400" lvl="2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sz="2400" dirty="0"/>
              <a:t>Intrakorporale Erreger (Bakterien, Parasiten, Viren) sind zu erwägen!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6EFAC9B-649C-86CB-1BEE-1FEA665DA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14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03844-8459-B40F-F70D-BC0CA173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2387"/>
            <a:ext cx="8866909" cy="1325563"/>
          </a:xfrm>
        </p:spPr>
        <p:txBody>
          <a:bodyPr/>
          <a:lstStyle/>
          <a:p>
            <a:r>
              <a:rPr lang="de-DE" dirty="0"/>
              <a:t>Wie kann man den Read einem Organismus überhaupt zuordnen?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29DCD7-FD48-A64E-9201-6D675EA52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382"/>
            <a:ext cx="10515600" cy="4351338"/>
          </a:xfrm>
        </p:spPr>
        <p:txBody>
          <a:bodyPr/>
          <a:lstStyle/>
          <a:p>
            <a:r>
              <a:rPr lang="de-DE" dirty="0"/>
              <a:t>Es besteht eine teilweise bzw. vollständige Genom-Sammlung von ca. 130.000 Lebewesen!</a:t>
            </a:r>
          </a:p>
          <a:p>
            <a:r>
              <a:rPr lang="de-DE" dirty="0"/>
              <a:t>Größtenteils in der „NCBI“:</a:t>
            </a:r>
          </a:p>
          <a:p>
            <a:pPr lvl="1"/>
            <a:r>
              <a:rPr lang="de-DE" dirty="0">
                <a:hlinkClick r:id="rId2"/>
              </a:rPr>
              <a:t>https://www.ncbi.nlm.nih.gov/home/download/</a:t>
            </a:r>
            <a:endParaRPr lang="de-DE" dirty="0"/>
          </a:p>
          <a:p>
            <a:pPr lvl="1"/>
            <a:r>
              <a:rPr lang="de-DE" dirty="0"/>
              <a:t>Kompletter Taxonomiebaum liegt dort ebenfalls vor</a:t>
            </a:r>
          </a:p>
          <a:p>
            <a:r>
              <a:rPr lang="de-DE" dirty="0"/>
              <a:t>Idee: </a:t>
            </a:r>
            <a:r>
              <a:rPr lang="de-DE" b="1" dirty="0"/>
              <a:t>Suche, wo ein Read oder seine Teile identisch im Genom eines Lebewesens vorkommt!</a:t>
            </a:r>
          </a:p>
          <a:p>
            <a:pPr lvl="1"/>
            <a:r>
              <a:rPr lang="de-DE" dirty="0"/>
              <a:t>Riesiger Such- und Rechenaufwand…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5C113A9-4D1F-73F8-FAAC-D8AF82148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C1746-193A-5852-F1F9-89E90953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Taxonomiebaum</a:t>
            </a:r>
            <a:r>
              <a:rPr lang="de-DE" dirty="0"/>
              <a:t> der Biologie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DA34026-08C1-12E6-2F75-87A1B7B8540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594346"/>
            <a:ext cx="5181600" cy="281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4B0336-4DDA-8694-E29A-51121F781D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Jedes Lebewesen hat einen eindeutigen Identifikator – die </a:t>
            </a:r>
            <a:r>
              <a:rPr lang="de-DE" dirty="0" err="1"/>
              <a:t>Taxid</a:t>
            </a:r>
            <a:endParaRPr lang="de-DE" dirty="0"/>
          </a:p>
          <a:p>
            <a:r>
              <a:rPr lang="de-DE" dirty="0"/>
              <a:t>Komplette Anordnung aller Lebewesen mittels über- und untergeordneter </a:t>
            </a:r>
            <a:r>
              <a:rPr lang="de-DE" dirty="0" err="1"/>
              <a:t>Taxids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ECF50AD-512B-00CC-4C8B-EC99671A9492}"/>
              </a:ext>
            </a:extLst>
          </p:cNvPr>
          <p:cNvSpPr txBox="1"/>
          <p:nvPr/>
        </p:nvSpPr>
        <p:spPr>
          <a:xfrm>
            <a:off x="765312" y="5408242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Quelle: Wikipedia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89D8B8-F1F7-3579-118F-D8077FAF9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63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AA527-3B50-BC3A-AEAA-FBA2CD80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Herunterladen eine Genoms bei NCBI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7439B-50DC-1D60-49C4-CEA18CE00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sz="4400" dirty="0"/>
              <a:t>Beispiel: </a:t>
            </a:r>
          </a:p>
          <a:p>
            <a:pPr marL="0" indent="0">
              <a:buNone/>
            </a:pPr>
            <a:r>
              <a:rPr lang="de-DE" sz="4400" dirty="0">
                <a:hlinkClick r:id="rId2"/>
              </a:rPr>
              <a:t>https://www.ncbi.nlm.nih.gov/data-hub/taxonomy/tree/?taxon=64895</a:t>
            </a:r>
            <a:endParaRPr lang="de-DE" sz="4400" dirty="0"/>
          </a:p>
          <a:p>
            <a:pPr marL="0" indent="0">
              <a:buNone/>
            </a:pPr>
            <a:endParaRPr lang="de-DE" sz="4400" dirty="0"/>
          </a:p>
          <a:p>
            <a:r>
              <a:rPr lang="de-DE" sz="4400" dirty="0"/>
              <a:t>DNA-Dateien liegen meist im </a:t>
            </a:r>
            <a:r>
              <a:rPr lang="de-DE" sz="4400" dirty="0" err="1"/>
              <a:t>Fasta</a:t>
            </a:r>
            <a:r>
              <a:rPr lang="de-DE" sz="4400" dirty="0"/>
              <a:t>-Format vor, Beispiel: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&gt;CP001568.1 Borrelia burgdorferi Bol26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Bol26_cp26,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complete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TTAAAAACTTTTCTATTGGATAGATTTTATACAAAGAAGGTAATAATGTATAAACAACAATATTTTATTTCTGGCAAGGT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ACAAGGTGTTGGTTTTAGATTTTTTACAGAGCAAATAGCAAATAATATGAAACTAAAAGGATTTGTAAAAAATCTCAACG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ATGGAAGGGTAGAAATTGTAGCTTTCTTTAATACTAAAGAACAAATGAAAAAATTTGAAAAATTATTAAATGGGAATAAG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TATTCAAACATTAAAAACATTGAAAAAATAGTTTTAGATGAAAATTATCCTTTTCAATTTAATGATTTTAAAATTTATTA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TTAGGGCTTGCCTCTCGTTTAACAAGTACCTTAACCTTATTTTTTGGTTTAATATTGTGCACATAAGAATTGTTATTCTT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ATAGCAAGACACACTAGTTCTAAAAAAATGTTCGACTTTAAATTTCAAAAACTCTAAAGACTTTCTGTTTCTACAAAAAA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F3A540F-BCD6-5A32-6325-375A7606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02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8545B-ED77-9D13-556B-F3AAAD60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„Klassifikation“ von Reads…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7CD9BC-7ED9-ACEA-3FCD-210400886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…bedeutet: Die Zuordnung der </a:t>
            </a:r>
            <a:r>
              <a:rPr lang="de-DE" dirty="0" err="1"/>
              <a:t>Taxid</a:t>
            </a:r>
            <a:r>
              <a:rPr lang="de-DE" dirty="0"/>
              <a:t> pro Read aus einer </a:t>
            </a:r>
            <a:r>
              <a:rPr lang="de-DE" dirty="0" err="1"/>
              <a:t>fastq</a:t>
            </a:r>
            <a:r>
              <a:rPr lang="de-DE" dirty="0"/>
              <a:t>-Datei</a:t>
            </a:r>
          </a:p>
          <a:p>
            <a:pPr marL="0" indent="0">
              <a:buNone/>
            </a:pPr>
            <a:r>
              <a:rPr lang="de-DE" dirty="0"/>
              <a:t>Also: Genau in welchem Genom findet sich etwa folgende Zeichenkette?</a:t>
            </a:r>
          </a:p>
          <a:p>
            <a:pPr marL="0" indent="0">
              <a:buNone/>
            </a:pP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GGGTGATGGCCGCTGCCGATGGCGTCAAATCCCACC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C3ACB1C-59E9-3471-D8A2-CFE358D9A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10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B01D26-F56F-9CF1-A51A-2BA5C96F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8866909" cy="1325563"/>
          </a:xfrm>
        </p:spPr>
        <p:txBody>
          <a:bodyPr>
            <a:noAutofit/>
          </a:bodyPr>
          <a:lstStyle/>
          <a:p>
            <a:r>
              <a:rPr lang="de-DE" sz="3200" dirty="0"/>
              <a:t>Software-Werkzeuge zur schnellen Klassifikation wie „</a:t>
            </a:r>
            <a:r>
              <a:rPr lang="de-DE" sz="3200" dirty="0">
                <a:hlinkClick r:id="rId2"/>
              </a:rPr>
              <a:t>krakenUniq</a:t>
            </a:r>
            <a:r>
              <a:rPr lang="de-DE" sz="3200" dirty="0"/>
              <a:t>“ oder „</a:t>
            </a:r>
            <a:r>
              <a:rPr lang="de-DE" sz="3200" dirty="0">
                <a:hlinkClick r:id="rId3"/>
              </a:rPr>
              <a:t>Genestrip</a:t>
            </a:r>
            <a:r>
              <a:rPr lang="de-DE" sz="3200" dirty="0"/>
              <a:t>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7E6D7B-6CBD-2065-A498-DAF0D6E8D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Idee:</a:t>
            </a:r>
          </a:p>
          <a:p>
            <a:pPr marL="514350" indent="-514350">
              <a:buAutoNum type="arabicPeriod"/>
            </a:pPr>
            <a:r>
              <a:rPr lang="de-DE" dirty="0"/>
              <a:t>Indiziere mögliche Teile von Reads aus allen möglichen Standard-DNAs der NCBI</a:t>
            </a:r>
          </a:p>
          <a:p>
            <a:pPr lvl="1"/>
            <a:r>
              <a:rPr lang="de-DE" dirty="0"/>
              <a:t>Bilde riesige „Tabelle“ mit Einträgen &lt;möglicher Read-Teil, </a:t>
            </a:r>
            <a:r>
              <a:rPr lang="de-DE" dirty="0" err="1"/>
              <a:t>Taxid</a:t>
            </a:r>
            <a:r>
              <a:rPr lang="de-DE" dirty="0"/>
              <a:t>&gt;</a:t>
            </a:r>
          </a:p>
          <a:p>
            <a:pPr lvl="1"/>
            <a:r>
              <a:rPr lang="de-DE" dirty="0"/>
              <a:t>Man spricht von einer „Database“</a:t>
            </a:r>
          </a:p>
          <a:p>
            <a:pPr marL="514350" indent="-514350">
              <a:buAutoNum type="arabicPeriod"/>
            </a:pPr>
            <a:r>
              <a:rPr lang="de-DE" dirty="0"/>
              <a:t>Wegen genetischer Verwandtschaft kommen viele Read-Teile in verschiedenen Spezies vor</a:t>
            </a:r>
          </a:p>
          <a:p>
            <a:pPr lvl="1"/>
            <a:r>
              <a:rPr lang="de-DE" dirty="0"/>
              <a:t>Man speichert dann den kleinsten gemeinsamen Vorgängerknoten des </a:t>
            </a:r>
            <a:r>
              <a:rPr lang="de-DE" dirty="0" err="1"/>
              <a:t>Taxonomiebaums</a:t>
            </a:r>
            <a:r>
              <a:rPr lang="de-DE" dirty="0"/>
              <a:t> zum Read-Teil in der Tabelle</a:t>
            </a:r>
          </a:p>
          <a:p>
            <a:pPr marL="514350" indent="-514350">
              <a:buAutoNum type="arabicPeriod"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ACB57E-B2F9-A104-47DF-BAB71D0E9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72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63F94-7107-18A3-6096-8CB30DCC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52509" cy="1325563"/>
          </a:xfrm>
        </p:spPr>
        <p:txBody>
          <a:bodyPr/>
          <a:lstStyle/>
          <a:p>
            <a:r>
              <a:rPr lang="de-DE" dirty="0"/>
              <a:t>Indizierung mittels gleitendem Fenster auf DNA-Datei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5D834-15B3-5C4C-2CC7-FD7C7C30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&gt;CP001568.1 Borrelia burgdorferi Bol26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Bol26_cp26,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complete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TTAAAAACTTTTCTATTGGATAGATTTTATACAAAGAAGGTAATAATGTATAAACAACAATATTTTATTTCTGGCAAGGT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ACAAGGTGTTGGTTTTAGATTTTTTACAGAGCAAATAGCAAATAATATGAAACTAAAAGGATTTGTAAAAAATCTCAACG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ATGGAAGGGTAGAAATTGTAGCTTTCTTTAATACTAAAGAACAAATGAAAAAATTTGAAAAATTATTAAATGGGAATAAG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TATTCAAACATTAAAAACATTGAAAAAATAGTTTTAGATGAAAATTATCCTTTTCAATTTAATGATTTTAAAATTTATTA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TTAGGGCTTGCCTCTCGTTTAACAAGTACCTTAACCTTATTTTTTGGTTTAATATTGTGCACATAAGAATTGTTATTCTT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ATAGCAAGACACACTAGTTCTAAAAAAATGTTCGACTTTAAATTTCAAAAACTCTAAAGACTTTCTGTTTCTACAAAAAA</a:t>
            </a:r>
          </a:p>
          <a:p>
            <a:pPr marL="0" indent="0">
              <a:buNone/>
            </a:pPr>
            <a:endParaRPr lang="de-DE" sz="23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C65E0A6-70CA-4C8B-F218-58EBB99B5411}"/>
              </a:ext>
            </a:extLst>
          </p:cNvPr>
          <p:cNvSpPr/>
          <p:nvPr/>
        </p:nvSpPr>
        <p:spPr>
          <a:xfrm>
            <a:off x="5572897" y="3530481"/>
            <a:ext cx="1717589" cy="337183"/>
          </a:xfrm>
          <a:prstGeom prst="rect">
            <a:avLst/>
          </a:prstGeom>
          <a:solidFill>
            <a:schemeClr val="accent1">
              <a:alpha val="562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96FFEC18-2432-8E47-3AD6-41D5D85FD455}"/>
              </a:ext>
            </a:extLst>
          </p:cNvPr>
          <p:cNvCxnSpPr/>
          <p:nvPr/>
        </p:nvCxnSpPr>
        <p:spPr>
          <a:xfrm>
            <a:off x="7290486" y="3567550"/>
            <a:ext cx="134688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18B522AC-8B8A-4763-4A7E-E0723DF1FE54}"/>
              </a:ext>
            </a:extLst>
          </p:cNvPr>
          <p:cNvSpPr/>
          <p:nvPr/>
        </p:nvSpPr>
        <p:spPr>
          <a:xfrm rot="16200000" flipH="1">
            <a:off x="6134382" y="3306182"/>
            <a:ext cx="594621" cy="1717590"/>
          </a:xfrm>
          <a:prstGeom prst="rightBrace">
            <a:avLst>
              <a:gd name="adj1" fmla="val 60965"/>
              <a:gd name="adj2" fmla="val 51116"/>
            </a:avLst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BCB1C10-FBC7-C2BF-56C1-540F476B9291}"/>
              </a:ext>
            </a:extLst>
          </p:cNvPr>
          <p:cNvSpPr txBox="1"/>
          <p:nvPr/>
        </p:nvSpPr>
        <p:spPr>
          <a:xfrm>
            <a:off x="2539703" y="4531077"/>
            <a:ext cx="7782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dirty="0"/>
              <a:t>„Fenster“ hat feste Länge </a:t>
            </a:r>
            <a:r>
              <a:rPr lang="de-DE" sz="2400" dirty="0" err="1"/>
              <a:t>k</a:t>
            </a:r>
            <a:r>
              <a:rPr lang="de-DE" sz="2400" dirty="0"/>
              <a:t>,</a:t>
            </a:r>
          </a:p>
          <a:p>
            <a:pPr algn="ctr"/>
            <a:r>
              <a:rPr lang="de-DE" sz="2400" dirty="0"/>
              <a:t>entspr. Basensequenz = Read-Teil wird als „</a:t>
            </a:r>
            <a:r>
              <a:rPr lang="de-DE" sz="2400" b="1" dirty="0" err="1"/>
              <a:t>k-mer</a:t>
            </a:r>
            <a:r>
              <a:rPr lang="de-DE" sz="2400" dirty="0"/>
              <a:t>“ bezeichnet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17F152-2071-D055-7868-AE09FE02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75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63F94-7107-18A3-6096-8CB30DCC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46027" cy="1325563"/>
          </a:xfrm>
        </p:spPr>
        <p:txBody>
          <a:bodyPr/>
          <a:lstStyle/>
          <a:p>
            <a:r>
              <a:rPr lang="de-DE" dirty="0"/>
              <a:t>Analog: Klassifikation mittels gleitendem Fenster auf Reads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5D834-15B3-5C4C-2CC7-FD7C7C30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@SRR001666.1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GGGTGATGGCCGCTGCCGATGGCGTCAAATCCCACC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+SRR001666.1 071112_SLXA-EAS1_s_7:5:1:817:345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=36 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IIIIIIIIIIIIIIIIIIIIIIIIIIIIII9IG9IC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4136339-C8F0-A056-EB1F-A397D4B7F7B3}"/>
              </a:ext>
            </a:extLst>
          </p:cNvPr>
          <p:cNvSpPr/>
          <p:nvPr/>
        </p:nvSpPr>
        <p:spPr>
          <a:xfrm>
            <a:off x="3682313" y="2294805"/>
            <a:ext cx="2323071" cy="337183"/>
          </a:xfrm>
          <a:prstGeom prst="rect">
            <a:avLst/>
          </a:prstGeom>
          <a:solidFill>
            <a:schemeClr val="accent1">
              <a:alpha val="562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E324ABA-DD42-C1AC-AD40-A9B4D44F7547}"/>
              </a:ext>
            </a:extLst>
          </p:cNvPr>
          <p:cNvCxnSpPr/>
          <p:nvPr/>
        </p:nvCxnSpPr>
        <p:spPr>
          <a:xfrm>
            <a:off x="6005384" y="2294805"/>
            <a:ext cx="134688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3DF407C4-0866-F5B9-E234-1B1897ADD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53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3BFE1A-F416-4314-C38A-4B26A19D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Und funktioniert es?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48FD92-F586-F276-D8D8-E5BA2A92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/>
              <a:t>Ja - für akute bakterielle Infektionen auf Basis von Blutproben.</a:t>
            </a:r>
          </a:p>
          <a:p>
            <a:r>
              <a:rPr lang="de-DE" dirty="0"/>
              <a:t>Für chronische Infektionen: Ja / „In der Forschung“</a:t>
            </a:r>
          </a:p>
          <a:p>
            <a:pPr marL="0" indent="0">
              <a:buNone/>
            </a:pPr>
            <a:r>
              <a:rPr lang="de-DE" dirty="0"/>
              <a:t>Beispiele in Deutschland:</a:t>
            </a:r>
          </a:p>
          <a:p>
            <a:r>
              <a:rPr lang="de-DE" dirty="0"/>
              <a:t>Beispiel Sepsis („Blutvergiftung“):</a:t>
            </a:r>
          </a:p>
          <a:p>
            <a:pPr marL="457200" lvl="1" indent="0">
              <a:buNone/>
            </a:pPr>
            <a:r>
              <a:rPr lang="de-DE" sz="2200" dirty="0">
                <a:hlinkClick r:id="rId2"/>
              </a:rPr>
              <a:t>https://www.igb.fraunhofer.de/de/forschung/in-vitro-diagnostik/next-generation-diagnostics/infektionsdiagnostik-mit-next-generation-sequencing.html</a:t>
            </a:r>
            <a:endParaRPr lang="de-DE" sz="2200" dirty="0"/>
          </a:p>
          <a:p>
            <a:r>
              <a:rPr lang="de-DE" dirty="0"/>
              <a:t>Pilot bei der Techniker Krankenkasse: </a:t>
            </a:r>
          </a:p>
          <a:p>
            <a:pPr marL="457200" lvl="1" indent="0">
              <a:buNone/>
            </a:pPr>
            <a:r>
              <a:rPr lang="de-DE" dirty="0">
                <a:hlinkClick r:id="rId3"/>
              </a:rPr>
              <a:t>https://www.tk.de/techniker/gesundheit-und-medizin/igv-vertraege/praezisionsmedizin-infektionsdiagnostik-2032576</a:t>
            </a:r>
            <a:endParaRPr lang="de-DE" dirty="0"/>
          </a:p>
          <a:p>
            <a:r>
              <a:rPr lang="de-DE" dirty="0"/>
              <a:t>Deutsches Startup für das Gebiet: </a:t>
            </a:r>
          </a:p>
          <a:p>
            <a:pPr marL="457200" lvl="1" indent="0">
              <a:buNone/>
            </a:pPr>
            <a:r>
              <a:rPr lang="de-DE" dirty="0">
                <a:hlinkClick r:id="rId4"/>
              </a:rPr>
              <a:t>https://noscendo.com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Aber wie so oft: Die USA hat die Nase vorn</a:t>
            </a:r>
          </a:p>
          <a:p>
            <a:r>
              <a:rPr lang="de-DE" dirty="0"/>
              <a:t>Führende Software-Systeme kommen von amerikanischen Universitäten</a:t>
            </a:r>
          </a:p>
          <a:p>
            <a:pPr marL="0" indent="0">
              <a:buNone/>
            </a:pPr>
            <a:r>
              <a:rPr lang="de-DE" dirty="0"/>
              <a:t>    Beispiel: </a:t>
            </a:r>
            <a:r>
              <a:rPr lang="de-DE" dirty="0">
                <a:hlinkClick r:id="rId5"/>
              </a:rPr>
              <a:t>https://salzberg-lab.org/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5819FC-2A52-80C5-A56F-C5409DAFE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22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FCEF7-C369-0BE5-AB75-0E12C0F3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Gesamtprozess aus Patientensicht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A6BFD2-5FFC-1ED3-894F-5DB5D17E8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0759"/>
            <a:ext cx="10515600" cy="2866203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Arzt / Patient: Probeentnahme und Versenden der Probe ans DNA-Labor</a:t>
            </a:r>
            <a:endParaRPr lang="de-DE" sz="24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Im Labor: Analyse liefert DNA-Fragmente in Dateien zum Herunterladen</a:t>
            </a:r>
            <a:endParaRPr lang="de-DE" sz="24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Analyse am Rechner: Zuordnung der DNA-Fragmente zum Menschen bzw. zu Erregern</a:t>
            </a:r>
            <a:endParaRPr lang="de-DE" sz="2400" dirty="0"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DE" sz="24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</a:rPr>
              <a:t>Wissenschaftler / Arzt / Patient: Bewertung der Analyseergebnisse, insbes. welche Erreger-DNA wurde wie häufig gezählt</a:t>
            </a:r>
            <a:r>
              <a:rPr lang="de-DE" sz="3600" dirty="0">
                <a:effectLst/>
                <a:latin typeface="+mj-lt"/>
              </a:rPr>
              <a:t> </a:t>
            </a:r>
            <a:endParaRPr lang="de-DE" sz="3600" dirty="0">
              <a:latin typeface="+mj-lt"/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1F7E89C-260E-22B5-3DD3-FBC9C1CDBCBD}"/>
              </a:ext>
            </a:extLst>
          </p:cNvPr>
          <p:cNvCxnSpPr>
            <a:cxnSpLocks/>
          </p:cNvCxnSpPr>
          <p:nvPr/>
        </p:nvCxnSpPr>
        <p:spPr>
          <a:xfrm>
            <a:off x="2908983" y="2047102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41680AB-218D-5E2D-4A2A-F4A03AF1E3F7}"/>
              </a:ext>
            </a:extLst>
          </p:cNvPr>
          <p:cNvCxnSpPr>
            <a:cxnSpLocks/>
          </p:cNvCxnSpPr>
          <p:nvPr/>
        </p:nvCxnSpPr>
        <p:spPr>
          <a:xfrm>
            <a:off x="8859794" y="2040924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 descr="Nadel mit einfarbiger Füllung">
            <a:extLst>
              <a:ext uri="{FF2B5EF4-FFF2-40B4-BE49-F238E27FC236}">
                <a16:creationId xmlns:a16="http://schemas.microsoft.com/office/drawing/2014/main" id="{F3FC31B9-8091-615E-0EAE-54F97C63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639" y="1583724"/>
            <a:ext cx="914400" cy="914400"/>
          </a:xfrm>
          <a:prstGeom prst="rect">
            <a:avLst/>
          </a:prstGeom>
        </p:spPr>
      </p:pic>
      <p:pic>
        <p:nvPicPr>
          <p:cNvPr id="7" name="Grafik 6" descr="Reagenzgläser mit einfarbiger Füllung">
            <a:extLst>
              <a:ext uri="{FF2B5EF4-FFF2-40B4-BE49-F238E27FC236}">
                <a16:creationId xmlns:a16="http://schemas.microsoft.com/office/drawing/2014/main" id="{BFAB993C-058F-F531-D4F1-A28FD3BC2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063" y="1583724"/>
            <a:ext cx="914400" cy="914400"/>
          </a:xfrm>
          <a:prstGeom prst="rect">
            <a:avLst/>
          </a:prstGeom>
        </p:spPr>
      </p:pic>
      <p:pic>
        <p:nvPicPr>
          <p:cNvPr id="8" name="Grafik 7" descr="Computer mit einfarbiger Füllung">
            <a:extLst>
              <a:ext uri="{FF2B5EF4-FFF2-40B4-BE49-F238E27FC236}">
                <a16:creationId xmlns:a16="http://schemas.microsoft.com/office/drawing/2014/main" id="{474CCF38-BB2A-04EC-50D7-1BA091A39C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7268" y="1584755"/>
            <a:ext cx="914400" cy="914400"/>
          </a:xfrm>
          <a:prstGeom prst="rect">
            <a:avLst/>
          </a:prstGeom>
        </p:spPr>
      </p:pic>
      <p:pic>
        <p:nvPicPr>
          <p:cNvPr id="9" name="Grafik 8" descr="Mikroskop mit einfarbiger Füllung">
            <a:extLst>
              <a:ext uri="{FF2B5EF4-FFF2-40B4-BE49-F238E27FC236}">
                <a16:creationId xmlns:a16="http://schemas.microsoft.com/office/drawing/2014/main" id="{F18B7138-70BA-E2E3-239F-2A484D5424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4198" y="1583724"/>
            <a:ext cx="914400" cy="914400"/>
          </a:xfrm>
          <a:prstGeom prst="rect">
            <a:avLst/>
          </a:prstGeom>
        </p:spPr>
      </p:pic>
      <p:pic>
        <p:nvPicPr>
          <p:cNvPr id="10" name="Grafik 9" descr="Stethoskop mit einfarbiger Füllung">
            <a:extLst>
              <a:ext uri="{FF2B5EF4-FFF2-40B4-BE49-F238E27FC236}">
                <a16:creationId xmlns:a16="http://schemas.microsoft.com/office/drawing/2014/main" id="{3A4C659F-B8BF-48C9-0894-8AE562A46B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6654" y="1589902"/>
            <a:ext cx="914400" cy="914400"/>
          </a:xfrm>
          <a:prstGeom prst="rect">
            <a:avLst/>
          </a:prstGeom>
        </p:spPr>
      </p:pic>
      <p:pic>
        <p:nvPicPr>
          <p:cNvPr id="11" name="Grafik 10" descr="Person mit Idee mit einfarbiger Füllung">
            <a:extLst>
              <a:ext uri="{FF2B5EF4-FFF2-40B4-BE49-F238E27FC236}">
                <a16:creationId xmlns:a16="http://schemas.microsoft.com/office/drawing/2014/main" id="{1629D6BA-8A2A-E748-9D46-BB214485DA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39400" y="1571367"/>
            <a:ext cx="914400" cy="914400"/>
          </a:xfrm>
          <a:prstGeom prst="rect">
            <a:avLst/>
          </a:prstGeom>
        </p:spPr>
      </p:pic>
      <p:pic>
        <p:nvPicPr>
          <p:cNvPr id="12" name="Grafik 11" descr="Benutzer mit einfarbiger Füllung">
            <a:extLst>
              <a:ext uri="{FF2B5EF4-FFF2-40B4-BE49-F238E27FC236}">
                <a16:creationId xmlns:a16="http://schemas.microsoft.com/office/drawing/2014/main" id="{0ABF7D3C-C534-1E94-0A15-2B808D38C2C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4151" y="1571367"/>
            <a:ext cx="914400" cy="914400"/>
          </a:xfrm>
          <a:prstGeom prst="rect">
            <a:avLst/>
          </a:prstGeom>
        </p:spPr>
      </p:pic>
      <p:pic>
        <p:nvPicPr>
          <p:cNvPr id="13" name="Grafik 12" descr="Tageskalender mit einfarbiger Füllung">
            <a:extLst>
              <a:ext uri="{FF2B5EF4-FFF2-40B4-BE49-F238E27FC236}">
                <a16:creationId xmlns:a16="http://schemas.microsoft.com/office/drawing/2014/main" id="{B36A61A7-9552-891D-AA85-17126BC1E0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58535" y="1559011"/>
            <a:ext cx="914400" cy="914400"/>
          </a:xfrm>
          <a:prstGeom prst="rect">
            <a:avLst/>
          </a:prstGeom>
        </p:spPr>
      </p:pic>
      <p:pic>
        <p:nvPicPr>
          <p:cNvPr id="14" name="Grafik 13" descr="Umschlag mit einfarbiger Füllung">
            <a:extLst>
              <a:ext uri="{FF2B5EF4-FFF2-40B4-BE49-F238E27FC236}">
                <a16:creationId xmlns:a16="http://schemas.microsoft.com/office/drawing/2014/main" id="{CFDB28B8-4531-EE3F-56F7-A035678887C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10809" y="1583724"/>
            <a:ext cx="914400" cy="9144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50A717D-CEC8-14B4-C18F-A0FE392A221C}"/>
              </a:ext>
            </a:extLst>
          </p:cNvPr>
          <p:cNvSpPr/>
          <p:nvPr/>
        </p:nvSpPr>
        <p:spPr>
          <a:xfrm>
            <a:off x="1455944" y="2564765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1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4FEBDD-9041-87D8-8A9A-A4B7035F2682}"/>
              </a:ext>
            </a:extLst>
          </p:cNvPr>
          <p:cNvSpPr/>
          <p:nvPr/>
        </p:nvSpPr>
        <p:spPr>
          <a:xfrm>
            <a:off x="4702236" y="2564765"/>
            <a:ext cx="556054" cy="500450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2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2CB5F44-E6C2-EF6D-4EFF-0B03A5669755}"/>
              </a:ext>
            </a:extLst>
          </p:cNvPr>
          <p:cNvSpPr/>
          <p:nvPr/>
        </p:nvSpPr>
        <p:spPr>
          <a:xfrm>
            <a:off x="8016441" y="2555498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3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0DD938-41EC-F930-FCAF-4E1385200F96}"/>
              </a:ext>
            </a:extLst>
          </p:cNvPr>
          <p:cNvSpPr/>
          <p:nvPr/>
        </p:nvSpPr>
        <p:spPr>
          <a:xfrm>
            <a:off x="10627834" y="2555498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4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2BB1AA1-8C50-8D89-A5E9-7DF425DE1E4F}"/>
              </a:ext>
            </a:extLst>
          </p:cNvPr>
          <p:cNvCxnSpPr>
            <a:cxnSpLocks/>
          </p:cNvCxnSpPr>
          <p:nvPr/>
        </p:nvCxnSpPr>
        <p:spPr>
          <a:xfrm>
            <a:off x="6170141" y="2038865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 descr="Datenbank mit einfarbiger Füllung">
            <a:extLst>
              <a:ext uri="{FF2B5EF4-FFF2-40B4-BE49-F238E27FC236}">
                <a16:creationId xmlns:a16="http://schemas.microsoft.com/office/drawing/2014/main" id="{142E4BBA-9676-7FF8-53BF-4C83278606A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01820" y="1571367"/>
            <a:ext cx="914400" cy="9144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5022EA43-8021-568E-E047-8C2D2E43500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519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42CEC-C0C4-8BC8-C2AF-17EC0F04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„Genestrip“ – eigene </a:t>
            </a:r>
            <a:r>
              <a:rPr lang="de-DE" dirty="0" err="1"/>
              <a:t>Analsyse</a:t>
            </a:r>
            <a:r>
              <a:rPr lang="de-DE" dirty="0"/>
              <a:t>-Software</a:t>
            </a:r>
            <a:br>
              <a:rPr lang="de-DE" dirty="0"/>
            </a:br>
            <a:r>
              <a:rPr lang="de-DE" dirty="0"/>
              <a:t>an der HHN entwickelt!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A43AD8-16B3-E50A-D728-A60D4EDCB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>
                <a:hlinkClick r:id="rId2"/>
              </a:rPr>
              <a:t>https://github.com/pfeiferd/genestrip</a:t>
            </a:r>
            <a:endParaRPr lang="de-DE" dirty="0"/>
          </a:p>
          <a:p>
            <a:r>
              <a:rPr lang="de-DE" dirty="0"/>
              <a:t>Vorteile gegenüber „älterer“ Analyse-Software (aus den USA):</a:t>
            </a:r>
          </a:p>
          <a:p>
            <a:pPr lvl="1"/>
            <a:r>
              <a:rPr lang="de-DE" dirty="0"/>
              <a:t>Leicht(er) zu installieren und zu bedienen,</a:t>
            </a:r>
          </a:p>
          <a:p>
            <a:pPr lvl="1"/>
            <a:r>
              <a:rPr lang="de-DE" dirty="0"/>
              <a:t>Läuft auf jedem PC (braucht wenig Speicher / „schnell“)</a:t>
            </a:r>
          </a:p>
          <a:p>
            <a:pPr lvl="1"/>
            <a:r>
              <a:rPr lang="de-DE" dirty="0"/>
              <a:t>“Reichhaltige“ und informative Ergebnisdaten</a:t>
            </a:r>
          </a:p>
          <a:p>
            <a:pPr lvl="1"/>
            <a:r>
              <a:rPr lang="de-DE" dirty="0"/>
              <a:t>… eben aus der Wissensstadt Heilbronn ;=)</a:t>
            </a:r>
          </a:p>
          <a:p>
            <a:r>
              <a:rPr lang="de-DE" dirty="0"/>
              <a:t>Beispiele von ersten Anwendungen:</a:t>
            </a:r>
          </a:p>
          <a:p>
            <a:pPr lvl="1"/>
            <a:r>
              <a:rPr lang="de-DE" dirty="0"/>
              <a:t>Pathogen-Analyse in / aus Zecken:</a:t>
            </a:r>
          </a:p>
          <a:p>
            <a:pPr marL="457200" lvl="1" indent="0">
              <a:buNone/>
            </a:pPr>
            <a:r>
              <a:rPr lang="de-DE" dirty="0"/>
              <a:t>	</a:t>
            </a:r>
            <a:r>
              <a:rPr lang="de-DE" dirty="0">
                <a:hlinkClick r:id="rId3"/>
              </a:rPr>
              <a:t>https://www.nature.com/articles/s41598-023-37134-9</a:t>
            </a:r>
            <a:endParaRPr lang="de-DE" dirty="0"/>
          </a:p>
          <a:p>
            <a:pPr lvl="1"/>
            <a:r>
              <a:rPr lang="de-DE" dirty="0"/>
              <a:t>Beispiel-Ergebnisse von Genestrip:</a:t>
            </a:r>
          </a:p>
          <a:p>
            <a:pPr lvl="2"/>
            <a:r>
              <a:rPr lang="de-DE" dirty="0">
                <a:hlinkClick r:id="rId4"/>
              </a:rPr>
              <a:t>Zecke 3</a:t>
            </a:r>
            <a:endParaRPr lang="de-DE" dirty="0"/>
          </a:p>
          <a:p>
            <a:pPr lvl="2"/>
            <a:r>
              <a:rPr lang="de-DE" dirty="0">
                <a:hlinkClick r:id="rId5"/>
              </a:rPr>
              <a:t>Zecke 6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FE9D06-680D-65E7-AA9B-22196856B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40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DE46D4-A7AF-8A2C-A768-009F3BBB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Vielfältige praktische Anwendungen…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1F293F-2369-CB28-A665-2CFC5DAD2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 der Medizin</a:t>
            </a:r>
          </a:p>
          <a:p>
            <a:r>
              <a:rPr lang="de-DE" dirty="0"/>
              <a:t>Bei der Hygiene / Infektionsschutz </a:t>
            </a:r>
          </a:p>
          <a:p>
            <a:r>
              <a:rPr lang="de-DE" dirty="0"/>
              <a:t>In der Biologie / Ökologie zur Artenüberwachung</a:t>
            </a:r>
          </a:p>
          <a:p>
            <a:r>
              <a:rPr lang="de-DE" dirty="0"/>
              <a:t>In der Lebensmittelüberwachung</a:t>
            </a:r>
          </a:p>
          <a:p>
            <a:r>
              <a:rPr lang="de-DE" dirty="0"/>
              <a:t>In der Landwirtschaft</a:t>
            </a:r>
          </a:p>
          <a:p>
            <a:pPr marL="0" indent="0">
              <a:buNone/>
            </a:pPr>
            <a:r>
              <a:rPr lang="de-DE" dirty="0"/>
              <a:t>usw.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3C63B3-D3A0-B603-4E86-EA1490C61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6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4059F-38BA-E6A8-B749-9224A497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Beispiel „Landwirtschaft“:</a:t>
            </a:r>
            <a:br>
              <a:rPr lang="de-DE" sz="4000" dirty="0"/>
            </a:br>
            <a:r>
              <a:rPr lang="de-DE" sz="4000" dirty="0"/>
              <a:t>Kooperation zwischen </a:t>
            </a:r>
            <a:r>
              <a:rPr lang="de-DE" sz="4000" dirty="0" err="1"/>
              <a:t>Experimenta</a:t>
            </a:r>
            <a:r>
              <a:rPr lang="de-DE" sz="4000" dirty="0"/>
              <a:t> und HHN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9AD01E-7D3D-383E-7CB1-2057F7870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Überwachung von Schadpilzen im Weinberg aus Bodenproben</a:t>
            </a:r>
          </a:p>
          <a:p>
            <a:pPr lvl="1"/>
            <a:r>
              <a:rPr lang="de-DE" sz="2000" dirty="0"/>
              <a:t>„Jugend forscht“-Projekt bei der </a:t>
            </a:r>
            <a:r>
              <a:rPr lang="de-DE" sz="2000" dirty="0" err="1"/>
              <a:t>Experimenta</a:t>
            </a:r>
            <a:endParaRPr lang="de-DE" sz="2000" dirty="0"/>
          </a:p>
          <a:p>
            <a:pPr lvl="1"/>
            <a:r>
              <a:rPr lang="de-DE" sz="2000" dirty="0"/>
              <a:t>Beschriebenes Verfahren kommt dort zukünftig analog zum Einsatz</a:t>
            </a:r>
          </a:p>
          <a:p>
            <a:pPr lvl="1"/>
            <a:r>
              <a:rPr lang="de-DE" sz="2000" dirty="0"/>
              <a:t>Idee: Wenn in der Bodenprobe wenig Schadpilze gefunden werden, muss evtl. kein / nur wenig Fungizid ausgebracht werden</a:t>
            </a:r>
          </a:p>
          <a:p>
            <a:pPr lvl="1"/>
            <a:r>
              <a:rPr lang="de-DE" sz="2000" dirty="0"/>
              <a:t>Hierzu die </a:t>
            </a:r>
            <a:r>
              <a:rPr lang="de-DE" sz="2000" dirty="0">
                <a:hlinkClick r:id="rId2"/>
              </a:rPr>
              <a:t>Genestrip Database für entspr. Schimmelpilze</a:t>
            </a:r>
            <a:endParaRPr lang="de-DE" sz="2000" dirty="0"/>
          </a:p>
          <a:p>
            <a:pPr lvl="1"/>
            <a:r>
              <a:rPr lang="de-DE" sz="2000" dirty="0"/>
              <a:t>Herzlichen Dank an Dr. Friedrich und Dr. Wendt!</a:t>
            </a:r>
          </a:p>
          <a:p>
            <a:r>
              <a:rPr lang="de-DE" sz="2400" dirty="0"/>
              <a:t>Weitere Kooperationen in Vorbereitung…</a:t>
            </a:r>
          </a:p>
          <a:p>
            <a:pPr marL="457200" lvl="1" indent="0">
              <a:buNone/>
            </a:pPr>
            <a:r>
              <a:rPr lang="de-DE" sz="2000" dirty="0"/>
              <a:t>... etwa </a:t>
            </a:r>
            <a:r>
              <a:rPr lang="de-DE" sz="2000" dirty="0">
                <a:hlinkClick r:id="rId3"/>
              </a:rPr>
              <a:t>mit dem nationalen Referenzzentrum für Borrelien</a:t>
            </a:r>
            <a:endParaRPr lang="de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CA02C5D-7393-40DE-6F2F-642E1362B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A286933-C3CB-2586-1404-4A99644FC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740" y="5361940"/>
            <a:ext cx="3260090" cy="14249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6F053D1-BDBA-64F2-1CDA-187B6DCAE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" y="5455251"/>
            <a:ext cx="5110480" cy="1331629"/>
          </a:xfrm>
          <a:prstGeom prst="rect">
            <a:avLst/>
          </a:prstGeom>
        </p:spPr>
      </p:pic>
      <p:pic>
        <p:nvPicPr>
          <p:cNvPr id="1026" name="Picture 2" descr="Behördenbezeichnung mit Staatswappen: Bayerisches Landesamt für Gesundheit und Lebensmittelsicherheit">
            <a:extLst>
              <a:ext uri="{FF2B5EF4-FFF2-40B4-BE49-F238E27FC236}">
                <a16:creationId xmlns:a16="http://schemas.microsoft.com/office/drawing/2014/main" id="{BCE8481A-E1C5-70C7-C799-DEFA511C3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925" y="4322299"/>
            <a:ext cx="4288367" cy="59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708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8AC41-9BE9-11C8-41B6-1876845D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 dem „Jugend forscht“-Projekt…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466374-C561-1555-474B-2DC159394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9069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7255E-C0B9-CD02-8246-1DFA69DF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dirty="0"/>
              <a:t>DNA-</a:t>
            </a:r>
            <a:r>
              <a:rPr lang="de-DE" sz="4000" dirty="0" err="1"/>
              <a:t>Sequencing</a:t>
            </a:r>
            <a:r>
              <a:rPr lang="de-DE" sz="4000" dirty="0"/>
              <a:t> als „disruptive Technologie“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25860B-5BB6-4197-6508-53B00DF7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4351338"/>
          </a:xfrm>
        </p:spPr>
        <p:txBody>
          <a:bodyPr/>
          <a:lstStyle/>
          <a:p>
            <a:r>
              <a:rPr lang="de-DE" dirty="0"/>
              <a:t>Evtl. werden so alsbald viele medizinische Labortests ersetzt</a:t>
            </a:r>
          </a:p>
          <a:p>
            <a:pPr lvl="1"/>
            <a:r>
              <a:rPr lang="de-DE" dirty="0"/>
              <a:t>Labore müssen technologisch „umschwenken“ …</a:t>
            </a:r>
          </a:p>
          <a:p>
            <a:pPr lvl="1"/>
            <a:r>
              <a:rPr lang="de-DE" dirty="0"/>
              <a:t>Vielleicht Testung auch bald direkt beim Hausarzt…?</a:t>
            </a:r>
          </a:p>
          <a:p>
            <a:r>
              <a:rPr lang="de-DE" dirty="0"/>
              <a:t>Vielleicht gravierend wie:</a:t>
            </a:r>
          </a:p>
          <a:p>
            <a:pPr lvl="1"/>
            <a:r>
              <a:rPr lang="de-DE" dirty="0"/>
              <a:t>Schreibmaschine </a:t>
            </a:r>
            <a:r>
              <a:rPr lang="de-DE" dirty="0">
                <a:sym typeface="Wingdings" pitchFamily="2" charset="2"/>
              </a:rPr>
              <a:t> PC (70er Jahre)</a:t>
            </a:r>
            <a:endParaRPr lang="de-DE" dirty="0"/>
          </a:p>
          <a:p>
            <a:pPr lvl="1"/>
            <a:r>
              <a:rPr lang="de-DE" dirty="0"/>
              <a:t>Chemischer Film </a:t>
            </a:r>
            <a:r>
              <a:rPr lang="de-DE" dirty="0">
                <a:sym typeface="Wingdings" pitchFamily="2" charset="2"/>
              </a:rPr>
              <a:t> Digitalkamera (80er Jahre)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C783854-555F-BCCA-A8AE-7A764C19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74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9930D-0B6F-6DFC-5BBD-EDE98BB0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Danke für Ihr Interesse!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7151F7-BA0D-6A1D-87CF-736A5453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sz="5400" dirty="0"/>
              <a:t>Fragen… (!?)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272F53-06E8-0051-2BC2-BF21E5EC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109" y="0"/>
            <a:ext cx="2486891" cy="11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1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1550</Words>
  <Application>Microsoft Macintosh PowerPoint</Application>
  <PresentationFormat>Breitbild</PresentationFormat>
  <Paragraphs>203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1" baseType="lpstr">
      <vt:lpstr>Arial</vt:lpstr>
      <vt:lpstr>Arial Rounded MT Bold</vt:lpstr>
      <vt:lpstr>Calibri</vt:lpstr>
      <vt:lpstr>Calibri Light</vt:lpstr>
      <vt:lpstr>Courier New</vt:lpstr>
      <vt:lpstr>Wingdings</vt:lpstr>
      <vt:lpstr>Office</vt:lpstr>
      <vt:lpstr>Metagenomische Erregerdiagnostik</vt:lpstr>
      <vt:lpstr>Kurz zu mir</vt:lpstr>
      <vt:lpstr>Chronische Infektionen</vt:lpstr>
      <vt:lpstr>Existierende Erreger-Tests</vt:lpstr>
      <vt:lpstr>Ideal</vt:lpstr>
      <vt:lpstr>Metagenomik und Genome Sequencing</vt:lpstr>
      <vt:lpstr>Wie sehen die gewonnenen DNA-Daten aus?</vt:lpstr>
      <vt:lpstr>Reads – die gelesenen „DNA-Schnipsel“</vt:lpstr>
      <vt:lpstr>Wo kommt die DNA her?</vt:lpstr>
      <vt:lpstr>Wie kann man den Read einem Organismus überhaupt zuordnen?</vt:lpstr>
      <vt:lpstr>Taxonomiebaum der Biologie</vt:lpstr>
      <vt:lpstr>Herunterladen eine Genoms bei NCBI</vt:lpstr>
      <vt:lpstr>„Klassifikation“ von Reads…</vt:lpstr>
      <vt:lpstr>Software-Werkzeuge zur schnellen Klassifikation wie „krakenUniq“ oder „Genestrip“</vt:lpstr>
      <vt:lpstr>Indizierung mittels gleitendem Fenster auf DNA-Datei</vt:lpstr>
      <vt:lpstr>Analog: Klassifikation mittels gleitendem Fenster auf Reads</vt:lpstr>
      <vt:lpstr>Und funktioniert es?</vt:lpstr>
      <vt:lpstr>Gesamtprozess aus Patientensicht</vt:lpstr>
      <vt:lpstr>„Genestrip“ – eigene Analsyse-Software an der HHN entwickelt!</vt:lpstr>
      <vt:lpstr>Vielfältige praktische Anwendungen…</vt:lpstr>
      <vt:lpstr>Beispiel „Landwirtschaft“: Kooperation zwischen Experimenta und HHN</vt:lpstr>
      <vt:lpstr>Aus dem „Jugend forscht“-Projekt…</vt:lpstr>
      <vt:lpstr>DNA-Sequencing als „disruptive Technologie“</vt:lpstr>
      <vt:lpstr>Danke für Ihr Interesse!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Metagenomische Erregerdiagnostik</dc:title>
  <dc:creator>Microsoft Office User</dc:creator>
  <cp:lastModifiedBy>Microsoft Office User</cp:lastModifiedBy>
  <cp:revision>67</cp:revision>
  <dcterms:created xsi:type="dcterms:W3CDTF">2023-02-15T09:00:27Z</dcterms:created>
  <dcterms:modified xsi:type="dcterms:W3CDTF">2024-06-20T12:54:46Z</dcterms:modified>
</cp:coreProperties>
</file>