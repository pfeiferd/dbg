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1" r:id="rId4"/>
    <p:sldId id="262" r:id="rId5"/>
    <p:sldId id="265" r:id="rId6"/>
    <p:sldId id="267" r:id="rId7"/>
    <p:sldId id="269" r:id="rId8"/>
    <p:sldId id="270" r:id="rId9"/>
    <p:sldId id="266" r:id="rId10"/>
    <p:sldId id="268" r:id="rId11"/>
    <p:sldId id="280" r:id="rId12"/>
    <p:sldId id="271" r:id="rId13"/>
    <p:sldId id="288" r:id="rId14"/>
    <p:sldId id="290" r:id="rId15"/>
    <p:sldId id="291" r:id="rId16"/>
    <p:sldId id="272" r:id="rId17"/>
    <p:sldId id="29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/>
    <p:restoredTop sz="96327"/>
  </p:normalViewPr>
  <p:slideViewPr>
    <p:cSldViewPr snapToGrid="0">
      <p:cViewPr varScale="1">
        <p:scale>
          <a:sx n="128" d="100"/>
          <a:sy n="128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6CE35-9D31-9643-B2A0-8F6BC2CA5408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3103E-A795-9443-9069-AC5EF149C7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62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F41F5-57B0-CC24-172D-24C33E1ED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8777A0-97E6-3D37-0166-0E75FC9A2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584915-E64F-446E-7421-3CE3E99B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58CFAF-6276-F452-AF01-D38CE522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1FD615-298F-1229-0C79-E9275317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42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8F6AA7-550D-663B-13B5-A5E2BC82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4C5146-D15A-6A5B-F73E-46ED3BE9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9C7E34-DBCB-92DB-8C5C-B870B8EF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25FEE5-BC0A-FEED-4001-91B6291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Fakultat</a:t>
            </a:r>
            <a:r>
              <a:rPr lang="de-DE" dirty="0"/>
              <a:t> 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A4536D-49BD-3C52-3D5F-40003415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40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EE4A7-9903-8797-CEC5-4F8F5B8C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499360-BBFC-D40B-2497-46A177B93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AD5C9B-DA9D-CBE4-33E9-9D0C85B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B83F3F-CC74-C9A1-9BE5-D12C764D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5788B0-1426-E4E1-3F14-82B6F6CC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98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ED121-D562-4745-8911-04C24ED0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2EC241-AD7B-0943-92EA-34DCD20D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019CDB-A026-BB19-1751-BDB8EA82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39F5C8-841C-ACEE-D4D9-CDBEEC0C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329DFC-1A9D-4F7A-1108-1BD29594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B731B-9C0D-F143-7B23-18EA5F22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05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9EA6D-52E0-DDBA-48D7-E1E79F0C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178988-D2C3-A25D-3DCA-BAD44449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C88D2C-DEC3-0A12-2823-5228AB6FF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E51D35-4F67-4548-3984-082D3288C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63CD9C-4E32-1296-4102-30220BADC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BADF7E-E750-03E8-7891-5EC96C86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FF5FA7-0AFF-87CA-163D-0076F289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71995B5-2E04-C2C2-B85F-5E7D697C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472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C14C3-B5EF-D8C4-8F38-1FBB48DB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F03916-CA91-76DD-019B-48C05CA7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292CCE-8DD0-A7C9-DB8E-51D43F96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9E9D1B-A367-89E3-11B4-4765602F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63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0A4FD2-8CD6-E55E-6451-14F99AE2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F82297-6795-5FB3-1092-16A6E242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5EED07-FA88-DD1A-60A3-EE7F7ADE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0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0A994-2F51-6D97-CEAF-F8128470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A2E05F-C607-52D6-CBEE-223C30050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FC463-C89E-5497-D20F-D3C9034AC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78E363-6356-E7AC-144D-7C2B236B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92291D-BCE6-73DB-4322-CBA23BB8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4255CA-0C43-1F8C-DEC4-83B1C691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23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D536C-B9F0-1A86-DF80-0E2AB1E9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0C0BC99-5567-0766-C404-8851442ED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B2AD29-9BC4-6783-B7CB-3A0C331BD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B2478F-B421-A23E-D88B-757AB1B2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04510E-FEE1-0AFD-6DD4-B6F577A3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E80889-061E-3AC7-E66C-A9DF2B8C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00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C36A9-5440-1F74-22F3-75033179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2289DA-27BB-E538-4C6D-CBCB433A0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3160AE-F5A2-E71B-3A5B-AA703DB2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4CD988-F308-EB88-E826-F4170C8E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0584A5-83F1-32E9-A5F8-1CD98AF6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86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6CF1F2-DE81-AB5C-A3B4-3224301C5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DAA3D8-EE2C-1459-6A82-C9E8F6B11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058BA6-B860-8B19-6019-21840E53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645019-EF38-44D5-CB40-2ECA3229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25F287-7354-E9DF-930E-59B97BE0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54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1D4BDD-B229-FFCF-FBE0-DCBEDFFE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B28C15-9EFF-E8A9-14A1-728925B93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732604-DEDC-CBC6-DEF2-0BC9A095D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F78EB-96E6-1E4C-882E-357B28756050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913031-E166-AA7B-1AA3-56A902243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0AF20-D0A2-63A9-744D-209FE0C21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34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hs-heilbronn.de/daniel.pfeif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home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cbi.nlm.nih.gov/taxonomy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data-hub/taxonomy/tree/?taxon=6489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feiferd/genestrip" TargetMode="External"/><Relationship Id="rId2" Type="http://schemas.openxmlformats.org/officeDocument/2006/relationships/hyperlink" Target="https://github.com/fbreitwieser/krakenuni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pfeiferd/genestri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projects/vineyard/csv/vineyard_dbinfo.csv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projects/chronicb/csv/chronicb_matchlr_tick3.csv" TargetMode="External"/><Relationship Id="rId2" Type="http://schemas.openxmlformats.org/officeDocument/2006/relationships/hyperlink" Target="https://www.nature.com/articles/s41598-023-37134-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projects/chronicb/csv/chronicb_matchlr_tick6.csv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k.de/techniker/gesundheit-und-medizin/igv-vertraege/praezisionsmedizin-infektionsdiagnostik-2032576" TargetMode="External"/><Relationship Id="rId2" Type="http://schemas.openxmlformats.org/officeDocument/2006/relationships/hyperlink" Target="https://www.igb.fraunhofer.de/de/forschung/in-vitro-diagnostik/next-generation-diagnostics/infektionsdiagnostik-mit-next-generation-sequenc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salzberg-lab.org/" TargetMode="External"/><Relationship Id="rId4" Type="http://schemas.openxmlformats.org/officeDocument/2006/relationships/hyperlink" Target="https://noscendo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10478782/" TargetMode="External"/><Relationship Id="rId2" Type="http://schemas.openxmlformats.org/officeDocument/2006/relationships/hyperlink" Target="https://pubmed.ncbi.nlm.nih.gov/37837372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ncbi.nlm.nih.gov/pmc/articles/PMC11218516/" TargetMode="External"/><Relationship Id="rId4" Type="http://schemas.openxmlformats.org/officeDocument/2006/relationships/hyperlink" Target="https://genomebiology.biomedcentral.com/articles/10.1186/s13059-018-1568-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D962D-0506-C89A-230C-9B919B07F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598" y="1751996"/>
            <a:ext cx="5552661" cy="2800126"/>
          </a:xfrm>
        </p:spPr>
        <p:txBody>
          <a:bodyPr>
            <a:normAutofit fontScale="90000"/>
          </a:bodyPr>
          <a:lstStyle/>
          <a:p>
            <a:r>
              <a:rPr lang="de-DE" sz="5400" dirty="0"/>
              <a:t>Einstieg:</a:t>
            </a:r>
            <a:br>
              <a:rPr lang="de-DE" sz="5400" dirty="0"/>
            </a:br>
            <a:r>
              <a:rPr lang="de-DE" sz="5400" dirty="0" err="1"/>
              <a:t>Metagenomische</a:t>
            </a:r>
            <a:r>
              <a:rPr lang="de-DE" sz="5400" dirty="0"/>
              <a:t> Analyse mit Genestrip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83D148-2BC6-7F92-B100-3282D8A45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9336" y="4646621"/>
            <a:ext cx="4745183" cy="1655762"/>
          </a:xfrm>
        </p:spPr>
        <p:txBody>
          <a:bodyPr>
            <a:normAutofit/>
          </a:bodyPr>
          <a:lstStyle/>
          <a:p>
            <a:r>
              <a:rPr lang="de-DE" dirty="0"/>
              <a:t>Prof. Dr. Daniel Pfeifer</a:t>
            </a:r>
          </a:p>
          <a:p>
            <a:r>
              <a:rPr lang="de-DE" dirty="0"/>
              <a:t>Fakultät IT, Medizinische Informatik</a:t>
            </a:r>
          </a:p>
          <a:p>
            <a:r>
              <a:rPr lang="de-DE" dirty="0"/>
              <a:t>29.7.2024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5AEB568-BC31-E19E-6D85-057786FF4C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D2AC1A-D372-E4DA-7D5F-ECD3C70D2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659" y="0"/>
            <a:ext cx="3538341" cy="16557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C77DD9-430E-E320-71CA-8904FEA5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5672"/>
            <a:ext cx="6077899" cy="403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8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3ABBD-DA0D-8D23-5BC2-5B3CC721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Mein Hintergrund / meine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AF8A7D-6C38-DD76-FBBF-526AB89E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952"/>
            <a:ext cx="10515600" cy="5099326"/>
          </a:xfrm>
        </p:spPr>
        <p:txBody>
          <a:bodyPr>
            <a:normAutofit fontScale="92500" lnSpcReduction="10000"/>
          </a:bodyPr>
          <a:lstStyle/>
          <a:p>
            <a:r>
              <a:rPr lang="de-DE" sz="2200" dirty="0"/>
              <a:t>Seit 2007 </a:t>
            </a:r>
            <a:r>
              <a:rPr lang="de-DE" sz="2200" b="1" dirty="0"/>
              <a:t>Prof. für Medizinische Informatik</a:t>
            </a:r>
            <a:r>
              <a:rPr lang="de-DE" sz="2200" dirty="0"/>
              <a:t> an der Hochschule Heilbronn</a:t>
            </a:r>
          </a:p>
          <a:p>
            <a:pPr lvl="1"/>
            <a:r>
              <a:rPr lang="de-DE" sz="1900" dirty="0"/>
              <a:t>Fächer: Datenbanken, Software Entwicklung, KI, Maschinelles Lernen</a:t>
            </a:r>
          </a:p>
          <a:p>
            <a:pPr marL="457200" lvl="1" indent="0">
              <a:buNone/>
            </a:pPr>
            <a:r>
              <a:rPr lang="de-DE" sz="1900" dirty="0"/>
              <a:t>	</a:t>
            </a:r>
            <a:r>
              <a:rPr lang="de-DE" sz="1900" dirty="0">
                <a:hlinkClick r:id="rId2"/>
              </a:rPr>
              <a:t>https://www.hs-heilbronn.de/daniel.pfeifer</a:t>
            </a:r>
            <a:endParaRPr lang="de-DE" sz="1900" dirty="0"/>
          </a:p>
          <a:p>
            <a:pPr lvl="1"/>
            <a:r>
              <a:rPr lang="de-DE" sz="1900" b="1" dirty="0"/>
              <a:t>Eigene Software-Firma und Forschung im Bereich „neuartige Software-Systeme“</a:t>
            </a:r>
          </a:p>
          <a:p>
            <a:pPr lvl="1"/>
            <a:r>
              <a:rPr lang="de-DE" sz="1900" dirty="0"/>
              <a:t>U.a. in diesem Kontext Interesse an der Bioinformatik entwickelt</a:t>
            </a:r>
            <a:endParaRPr lang="de-DE" sz="2200" dirty="0"/>
          </a:p>
          <a:p>
            <a:r>
              <a:rPr lang="de-DE" sz="2200" dirty="0"/>
              <a:t>Modernes DNA-</a:t>
            </a:r>
            <a:r>
              <a:rPr lang="de-DE" sz="2200" dirty="0" err="1"/>
              <a:t>Sequencing</a:t>
            </a:r>
            <a:r>
              <a:rPr lang="de-DE" sz="2200" dirty="0"/>
              <a:t> mit günstigen Kleingeräten wird </a:t>
            </a:r>
            <a:r>
              <a:rPr lang="de-DE" sz="2200" b="1" dirty="0"/>
              <a:t>ubiquitär</a:t>
            </a:r>
            <a:r>
              <a:rPr lang="de-DE" sz="2200" dirty="0"/>
              <a:t> verfügbar werden</a:t>
            </a:r>
          </a:p>
          <a:p>
            <a:pPr lvl="1"/>
            <a:r>
              <a:rPr lang="de-DE" sz="1900" dirty="0"/>
              <a:t>Riesiges Potential mit unzähligen Anwendungsgebieten:</a:t>
            </a:r>
          </a:p>
          <a:p>
            <a:pPr lvl="2"/>
            <a:r>
              <a:rPr lang="de-DE" sz="1700" dirty="0"/>
              <a:t>Landwirtschaft</a:t>
            </a:r>
          </a:p>
          <a:p>
            <a:pPr lvl="2"/>
            <a:r>
              <a:rPr lang="de-DE" sz="1700" dirty="0"/>
              <a:t>Ökologie, Artenüberwachung</a:t>
            </a:r>
          </a:p>
          <a:p>
            <a:pPr lvl="2"/>
            <a:r>
              <a:rPr lang="de-DE" sz="1700" dirty="0"/>
              <a:t>Hygiene</a:t>
            </a:r>
          </a:p>
          <a:p>
            <a:pPr lvl="2"/>
            <a:r>
              <a:rPr lang="de-DE" sz="1700" dirty="0"/>
              <a:t>Lebensmittelüberwachung</a:t>
            </a:r>
          </a:p>
          <a:p>
            <a:pPr lvl="2"/>
            <a:r>
              <a:rPr lang="de-DE" sz="1700" dirty="0"/>
              <a:t>Erregerdiagnostik, Medizin</a:t>
            </a:r>
          </a:p>
          <a:p>
            <a:r>
              <a:rPr lang="de-DE" sz="2200" dirty="0"/>
              <a:t>Problem: </a:t>
            </a:r>
            <a:r>
              <a:rPr lang="de-DE" sz="2200" b="1" dirty="0"/>
              <a:t>Bisherige Software nur von Spezialisten, insbes. IT-Fachkräften und Bioinformatikern einsetzbar</a:t>
            </a:r>
          </a:p>
          <a:p>
            <a:pPr lvl="1"/>
            <a:r>
              <a:rPr lang="de-DE" sz="1900" dirty="0"/>
              <a:t>Meist Großrechner erforderlich mit aufwändiger Administration / Installation</a:t>
            </a:r>
          </a:p>
          <a:p>
            <a:r>
              <a:rPr lang="de-DE" sz="2200" b="1" dirty="0"/>
              <a:t>Ziel: Bessere Analyse-Software für alle</a:t>
            </a:r>
            <a:r>
              <a:rPr lang="de-DE" sz="2200" dirty="0"/>
              <a:t>!</a:t>
            </a:r>
          </a:p>
          <a:p>
            <a:r>
              <a:rPr lang="de-DE" sz="2200" b="1" dirty="0"/>
              <a:t>Aber</a:t>
            </a:r>
            <a:r>
              <a:rPr lang="de-DE" sz="2200" dirty="0"/>
              <a:t>: Ich bin “nur“ Informatiker und suche entspr. Partner…</a:t>
            </a:r>
          </a:p>
          <a:p>
            <a:pPr marL="914400" lvl="2" indent="0">
              <a:buNone/>
            </a:pPr>
            <a:endParaRPr lang="de-DE" sz="1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F9792A-15BD-4035-0563-517EECEB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6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42754-F99D-C251-40E2-28DAE9E9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Nanopore</a:t>
            </a:r>
            <a:r>
              <a:rPr lang="de-DE" dirty="0"/>
              <a:t>-Technologie…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A3B9BA-246E-E3B7-FC5E-4C694849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neuesten Geräte zur DNA-</a:t>
            </a:r>
            <a:r>
              <a:rPr lang="de-DE" dirty="0" err="1"/>
              <a:t>Sequencierung</a:t>
            </a:r>
            <a:r>
              <a:rPr lang="de-DE" dirty="0"/>
              <a:t> sind</a:t>
            </a:r>
          </a:p>
          <a:p>
            <a:pPr lvl="1"/>
            <a:r>
              <a:rPr lang="de-DE" dirty="0"/>
              <a:t>klein,</a:t>
            </a:r>
          </a:p>
          <a:p>
            <a:pPr lvl="1"/>
            <a:r>
              <a:rPr lang="de-DE" dirty="0"/>
              <a:t>Einstieg kostengünstig (ca. 2000 Euro),</a:t>
            </a:r>
          </a:p>
          <a:p>
            <a:pPr lvl="1"/>
            <a:r>
              <a:rPr lang="de-DE" dirty="0"/>
              <a:t>relativ einfach und überall einsetzbar und</a:t>
            </a:r>
          </a:p>
          <a:p>
            <a:pPr lvl="1"/>
            <a:r>
              <a:rPr lang="de-DE" dirty="0"/>
              <a:t>liefern hochwertige RNA- bzw. DNA-Daten mit inzwischen geringer Fehlerrate,</a:t>
            </a:r>
          </a:p>
          <a:p>
            <a:pPr lvl="1"/>
            <a:r>
              <a:rPr lang="de-DE" dirty="0"/>
              <a:t>liefern DNA-Long-Reads mit bis zu 30.000 Basenpaaren</a:t>
            </a:r>
          </a:p>
          <a:p>
            <a:r>
              <a:rPr lang="de-DE" dirty="0"/>
              <a:t>Bald Neueste Generation: „</a:t>
            </a:r>
            <a:r>
              <a:rPr lang="de-DE" dirty="0" err="1"/>
              <a:t>Traxion</a:t>
            </a:r>
            <a:r>
              <a:rPr lang="de-DE" dirty="0"/>
              <a:t>“ mit integrierte Probenaufbereitung</a:t>
            </a:r>
          </a:p>
          <a:p>
            <a:pPr marL="0" indent="0">
              <a:buNone/>
            </a:pPr>
            <a:r>
              <a:rPr lang="de-DE" dirty="0"/>
              <a:t>	https://</a:t>
            </a:r>
            <a:r>
              <a:rPr lang="de-DE" dirty="0" err="1"/>
              <a:t>nanoporetech.com</a:t>
            </a:r>
            <a:r>
              <a:rPr lang="de-DE" dirty="0"/>
              <a:t>/</a:t>
            </a:r>
            <a:r>
              <a:rPr lang="de-DE" dirty="0" err="1"/>
              <a:t>products</a:t>
            </a:r>
            <a:r>
              <a:rPr lang="de-DE" dirty="0"/>
              <a:t>/</a:t>
            </a:r>
            <a:r>
              <a:rPr lang="de-DE" dirty="0" err="1"/>
              <a:t>sequence</a:t>
            </a:r>
            <a:r>
              <a:rPr lang="de-DE" dirty="0"/>
              <a:t>/</a:t>
            </a:r>
            <a:r>
              <a:rPr lang="de-DE" dirty="0" err="1"/>
              <a:t>traxion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C0A14D-7375-9C92-285A-8B4CC71A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284D3-3C90-32CB-4F15-826A6B00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868"/>
            <a:ext cx="10515600" cy="1325563"/>
          </a:xfrm>
        </p:spPr>
        <p:txBody>
          <a:bodyPr/>
          <a:lstStyle/>
          <a:p>
            <a:r>
              <a:rPr lang="de-DE" dirty="0"/>
              <a:t>Wie sehen die gewonnenen DNA-Daten aus?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E091D3-258A-4BA7-B2DE-71BC2AE0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Ausschnitte aus einer „</a:t>
            </a:r>
            <a:r>
              <a:rPr lang="de-DE" sz="3200" dirty="0" err="1">
                <a:latin typeface="+mj-lt"/>
                <a:cs typeface="Courier New" panose="02070309020205020404" pitchFamily="49" charset="0"/>
              </a:rPr>
              <a:t>fastq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“-Datei – ein sogenannter </a:t>
            </a:r>
            <a:r>
              <a:rPr lang="de-DE" sz="3200" b="1" dirty="0">
                <a:latin typeface="+mj-lt"/>
                <a:cs typeface="Courier New" panose="02070309020205020404" pitchFamily="49" charset="0"/>
              </a:rPr>
              <a:t>Read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@SRR001666.1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IIIIIIIIIIIIIIIIIIIIIIIIIIIIII9IG9IC </a:t>
            </a:r>
          </a:p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Produzierte </a:t>
            </a:r>
            <a:r>
              <a:rPr lang="de-DE" sz="3200" dirty="0" err="1">
                <a:latin typeface="+mj-lt"/>
                <a:cs typeface="Courier New" panose="02070309020205020404" pitchFamily="49" charset="0"/>
              </a:rPr>
              <a:t>Fastq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-Dateien sind oft </a:t>
            </a:r>
            <a:r>
              <a:rPr lang="de-DE" sz="3200" b="1" dirty="0">
                <a:latin typeface="+mj-lt"/>
                <a:cs typeface="Courier New" panose="02070309020205020404" pitchFamily="49" charset="0"/>
              </a:rPr>
              <a:t>riesig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&gt; 50 GB </a:t>
            </a:r>
            <a:r>
              <a:rPr lang="de-DE" sz="3200" dirty="0">
                <a:latin typeface="+mj-lt"/>
                <a:cs typeface="Courier New" panose="02070309020205020404" pitchFamily="49" charset="0"/>
                <a:sym typeface="Wingdings" pitchFamily="2" charset="2"/>
              </a:rPr>
              <a:t> 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Milliarden von Reads…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4BAA5EA-C2FC-6B21-D77E-07ECD28C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6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3844-8459-B40F-F70D-BC0CA173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2387"/>
            <a:ext cx="8866909" cy="1325563"/>
          </a:xfrm>
        </p:spPr>
        <p:txBody>
          <a:bodyPr/>
          <a:lstStyle/>
          <a:p>
            <a:r>
              <a:rPr lang="de-DE" dirty="0"/>
              <a:t>Wie kann man den Read einem Organismus überhaupt zuordnen?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29DCD7-FD48-A64E-9201-6D675EA52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382"/>
            <a:ext cx="10515600" cy="4351338"/>
          </a:xfrm>
        </p:spPr>
        <p:txBody>
          <a:bodyPr/>
          <a:lstStyle/>
          <a:p>
            <a:r>
              <a:rPr lang="de-DE" dirty="0"/>
              <a:t>Es besteht eine teilweise bzw. vollständige Genom-Sammlung von ca. 130.000 Lebewesen!</a:t>
            </a:r>
          </a:p>
          <a:p>
            <a:r>
              <a:rPr lang="de-DE" dirty="0"/>
              <a:t>Aus „NCBI“ oder anderen Quellen:</a:t>
            </a:r>
          </a:p>
          <a:p>
            <a:pPr lvl="1"/>
            <a:r>
              <a:rPr lang="de-DE" dirty="0">
                <a:hlinkClick r:id="rId2"/>
              </a:rPr>
              <a:t>https://www.ncbi.nlm.nih.gov/home/download/</a:t>
            </a:r>
            <a:endParaRPr lang="de-DE" dirty="0"/>
          </a:p>
          <a:p>
            <a:pPr lvl="1"/>
            <a:r>
              <a:rPr lang="de-DE" dirty="0"/>
              <a:t>Kompletter Taxonomiebaum liegt dort ebenfalls vor</a:t>
            </a:r>
          </a:p>
          <a:p>
            <a:r>
              <a:rPr lang="de-DE" dirty="0"/>
              <a:t>Idee: </a:t>
            </a:r>
            <a:r>
              <a:rPr lang="de-DE" b="1" dirty="0"/>
              <a:t>Suche, wo ein Read oder seine Teile identisch im Genom eines Lebewesens vorkommt!</a:t>
            </a:r>
          </a:p>
          <a:p>
            <a:pPr lvl="1"/>
            <a:r>
              <a:rPr lang="de-DE" dirty="0"/>
              <a:t>Riesiger Such- und Rechenaufwand…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C113A9-4D1F-73F8-FAAC-D8AF8214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C1746-193A-5852-F1F9-89E90953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Taxonomiebaum</a:t>
            </a:r>
            <a:r>
              <a:rPr lang="de-DE" dirty="0"/>
              <a:t> der Biologie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A34026-08C1-12E6-2F75-87A1B7B854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594346"/>
            <a:ext cx="5181600" cy="281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4B0336-4DDA-8694-E29A-51121F781D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Jedes Lebewesen hat einen eindeutigen Identifikator – die </a:t>
            </a:r>
            <a:r>
              <a:rPr lang="de-DE" dirty="0" err="1"/>
              <a:t>Taxid</a:t>
            </a:r>
            <a:endParaRPr lang="de-DE" dirty="0"/>
          </a:p>
          <a:p>
            <a:r>
              <a:rPr lang="de-DE" dirty="0"/>
              <a:t>Komplette Anordnung aller Lebewesen mittels über- und untergeordneter </a:t>
            </a:r>
            <a:r>
              <a:rPr lang="de-DE" dirty="0" err="1"/>
              <a:t>Taxids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CF50AD-512B-00CC-4C8B-EC99671A9492}"/>
              </a:ext>
            </a:extLst>
          </p:cNvPr>
          <p:cNvSpPr txBox="1"/>
          <p:nvPr/>
        </p:nvSpPr>
        <p:spPr>
          <a:xfrm>
            <a:off x="765312" y="5408242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Wikipedia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89D8B8-F1F7-3579-118F-D8077FAF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6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AA527-3B50-BC3A-AEAA-FBA2CD80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Herunterladen eine Genoms bei NCBI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7439B-50DC-1D60-49C4-CEA18CE00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sz="4400" dirty="0"/>
              <a:t>Beispiel: </a:t>
            </a:r>
          </a:p>
          <a:p>
            <a:pPr marL="0" indent="0">
              <a:buNone/>
            </a:pPr>
            <a:r>
              <a:rPr lang="de-DE" sz="4400" dirty="0">
                <a:hlinkClick r:id="rId2"/>
              </a:rPr>
              <a:t>https://www.ncbi.nlm.nih.gov/data-hub/taxonomy/tree/?taxon=64895</a:t>
            </a:r>
            <a:endParaRPr lang="de-DE" sz="4400" dirty="0"/>
          </a:p>
          <a:p>
            <a:pPr marL="0" indent="0">
              <a:buNone/>
            </a:pPr>
            <a:endParaRPr lang="de-DE" sz="4400" dirty="0"/>
          </a:p>
          <a:p>
            <a:r>
              <a:rPr lang="de-DE" sz="4400" dirty="0"/>
              <a:t>DNA-Dateien liegen meist im </a:t>
            </a:r>
            <a:r>
              <a:rPr lang="de-DE" sz="4400" dirty="0" err="1"/>
              <a:t>Fasta</a:t>
            </a:r>
            <a:r>
              <a:rPr lang="de-DE" sz="4400" dirty="0"/>
              <a:t>-Format vor, Beispiel: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&gt;CP001568.1 Borrelia burgdorferi Bol26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Bol26_cp26,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TTAAAAACTTTTCTATTGGATAGATTTTATACAAAGAAGGTAATAATGTATAAACAACAATATTTTATTTCTGGCAAGGT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ACAAGGTGTTGGTTTTAGATTTTTTACAGAGCAAATAGCAAATAATATGAAACTAAAAGGATTTGTAAAAAATCTCAACG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ATGGAAGGGTAGAAATTGTAGCTTTCTTTAATACTAAAGAACAAATGAAAAAATTTGAAAAATTATTAAATGGGAATAAG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TATTCAAACATTAAAAACATTGAAAAAATAGTTTTAGATGAAAATTATCCTTTTCAATTTAATGATTTTAAAATTTATTA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TTAGGGCTTGCCTCTCGTTTAACAAGTACCTTAACCTTATTTTTTGGTTTAATATTGTGCACATAAGAATTGTTATTCTT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ATAGCAAGACACACTAGTTCTAAAAAAATGTTCGACTTTAAATTTCAAAAACTCTAAAGACTTTCTGTTTCTACAAAAAA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F3A540F-BCD6-5A32-6325-375A7606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0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8545B-ED77-9D13-556B-F3AAAD60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„Klassifikation“ von Reads…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7CD9BC-7ED9-ACEA-3FCD-210400886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…bedeutet: Die Zuordnung der </a:t>
            </a:r>
            <a:r>
              <a:rPr lang="de-DE" dirty="0" err="1"/>
              <a:t>Taxid</a:t>
            </a:r>
            <a:r>
              <a:rPr lang="de-DE" dirty="0"/>
              <a:t> pro Read aus einer </a:t>
            </a:r>
            <a:r>
              <a:rPr lang="de-DE" dirty="0" err="1"/>
              <a:t>fastq</a:t>
            </a:r>
            <a:r>
              <a:rPr lang="de-DE" dirty="0"/>
              <a:t>-Datei</a:t>
            </a:r>
          </a:p>
          <a:p>
            <a:pPr marL="0" indent="0">
              <a:buNone/>
            </a:pPr>
            <a:r>
              <a:rPr lang="de-DE" dirty="0"/>
              <a:t>Also: Genau in welchem Genom findet sich etwa folgende Zeichenkette?</a:t>
            </a:r>
          </a:p>
          <a:p>
            <a:pPr marL="0" indent="0">
              <a:buNone/>
            </a:pP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C3ACB1C-59E9-3471-D8A2-CFE358D9A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1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01D26-F56F-9CF1-A51A-2BA5C96F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8866909" cy="1325563"/>
          </a:xfrm>
        </p:spPr>
        <p:txBody>
          <a:bodyPr>
            <a:noAutofit/>
          </a:bodyPr>
          <a:lstStyle/>
          <a:p>
            <a:r>
              <a:rPr lang="de-DE" sz="3200" dirty="0"/>
              <a:t>Software-Werkzeuge zur schnellen Klassifikation wie „</a:t>
            </a:r>
            <a:r>
              <a:rPr lang="de-DE" sz="3200" dirty="0">
                <a:hlinkClick r:id="rId2"/>
              </a:rPr>
              <a:t>krakenUniq</a:t>
            </a:r>
            <a:r>
              <a:rPr lang="de-DE" sz="3200" dirty="0"/>
              <a:t>“ oder „</a:t>
            </a:r>
            <a:r>
              <a:rPr lang="de-DE" sz="3200" dirty="0">
                <a:hlinkClick r:id="rId3"/>
              </a:rPr>
              <a:t>Genestrip</a:t>
            </a:r>
            <a:r>
              <a:rPr lang="de-DE" sz="3200" dirty="0"/>
              <a:t>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7E6D7B-6CBD-2065-A498-DAF0D6E8D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Idee:</a:t>
            </a:r>
          </a:p>
          <a:p>
            <a:pPr marL="514350" indent="-514350">
              <a:buAutoNum type="arabicPeriod"/>
            </a:pPr>
            <a:r>
              <a:rPr lang="de-DE" dirty="0"/>
              <a:t>Indiziere mögliche Teile von Reads aus allen </a:t>
            </a:r>
            <a:r>
              <a:rPr lang="de-DE" b="1" dirty="0"/>
              <a:t>möglichen Standard-DNAs der NCBI oder anderen Quellen</a:t>
            </a:r>
          </a:p>
          <a:p>
            <a:pPr lvl="1"/>
            <a:r>
              <a:rPr lang="de-DE" dirty="0"/>
              <a:t>Bilde riesige „Tabelle“ mit Einträgen &lt;</a:t>
            </a:r>
            <a:r>
              <a:rPr lang="de-DE" dirty="0" err="1"/>
              <a:t>k-mer</a:t>
            </a:r>
            <a:r>
              <a:rPr lang="de-DE" dirty="0"/>
              <a:t>, </a:t>
            </a:r>
            <a:r>
              <a:rPr lang="de-DE" dirty="0" err="1"/>
              <a:t>Taxid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Man spricht von einer „Database“</a:t>
            </a:r>
          </a:p>
          <a:p>
            <a:pPr marL="514350" indent="-514350">
              <a:buAutoNum type="arabicPeriod"/>
            </a:pPr>
            <a:r>
              <a:rPr lang="de-DE" dirty="0"/>
              <a:t>Wegen genetischer Verwandtschaft kommen viele </a:t>
            </a:r>
            <a:r>
              <a:rPr lang="de-DE" dirty="0" err="1"/>
              <a:t>k-mere</a:t>
            </a:r>
            <a:r>
              <a:rPr lang="de-DE" dirty="0"/>
              <a:t> in verschiedenen Spezies vor</a:t>
            </a:r>
          </a:p>
          <a:p>
            <a:pPr lvl="1"/>
            <a:r>
              <a:rPr lang="de-DE" dirty="0"/>
              <a:t>Man speichert dann den kleinsten gemeinsamen Vorgängerknoten des </a:t>
            </a:r>
            <a:r>
              <a:rPr lang="de-DE" dirty="0" err="1"/>
              <a:t>Taxonomiebaums</a:t>
            </a:r>
            <a:r>
              <a:rPr lang="de-DE" dirty="0"/>
              <a:t> zum </a:t>
            </a:r>
            <a:r>
              <a:rPr lang="de-DE" dirty="0" err="1"/>
              <a:t>k-mer</a:t>
            </a:r>
            <a:r>
              <a:rPr lang="de-DE" dirty="0"/>
              <a:t> in der Tabelle</a:t>
            </a:r>
          </a:p>
          <a:p>
            <a:pPr marL="514350" indent="-514350">
              <a:buAutoNum type="arabicPeriod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ACB57E-B2F9-A104-47DF-BAB71D0E9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7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3F94-7107-18A3-6096-8CB30DCC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52509" cy="1325563"/>
          </a:xfrm>
        </p:spPr>
        <p:txBody>
          <a:bodyPr>
            <a:noAutofit/>
          </a:bodyPr>
          <a:lstStyle/>
          <a:p>
            <a:r>
              <a:rPr lang="de-DE" sz="3200" dirty="0"/>
              <a:t>Datenbank-Generierung:</a:t>
            </a:r>
            <a:br>
              <a:rPr lang="de-DE" sz="3200" dirty="0"/>
            </a:br>
            <a:r>
              <a:rPr lang="de-DE" sz="3200" dirty="0"/>
              <a:t>Indizierung mittels gleitendem Fenster auf DNA-Datei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5D834-15B3-5C4C-2CC7-FD7C7C30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&gt;CP001568.1 Borrelia burgdorferi Bol26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Bol26_cp26,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TTAAAAACTTTTCTATTGGATAGATTTTATACAAAGAAGGTAATAATGTATAAACAACAATATTTTATTTCTGGCAAGGT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ACAAGGTGTTGGTTTTAGATTTTTTACAGAGCAAATAGCAAATAATATGAAACTAAAAGGATTTGTAAAAAATCTCAACG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ATGGAAGGGTAGAAATTGTAGCTTTCTTTAATACTAAAGAACAAATGAAAAAATTTGAAAAATTATTAAATGGGAATAAG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TATTCAAACATTAAAAACATTGAAAAAATAGTTTTAGATGAAAATTATCCTTTTCAATTTAATGATTTTAAAATTTATTA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TTAGGGCTTGCCTCTCGTTTAACAAGTACCTTAACCTTATTTTTTGGTTTAATATTGTGCACATAAGAATTGTTATTCTT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ATAGCAAGACACACTAGTTCTAAAAAAATGTTCGACTTTAAATTTCAAAAACTCTAAAGACTTTCTGTTTCTACAAAAAA</a:t>
            </a:r>
          </a:p>
          <a:p>
            <a:pPr marL="0" indent="0">
              <a:buNone/>
            </a:pPr>
            <a:endParaRPr lang="de-DE" sz="23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C65E0A6-70CA-4C8B-F218-58EBB99B5411}"/>
              </a:ext>
            </a:extLst>
          </p:cNvPr>
          <p:cNvSpPr/>
          <p:nvPr/>
        </p:nvSpPr>
        <p:spPr>
          <a:xfrm>
            <a:off x="5572897" y="3530481"/>
            <a:ext cx="1717589" cy="337183"/>
          </a:xfrm>
          <a:prstGeom prst="rect">
            <a:avLst/>
          </a:prstGeom>
          <a:solidFill>
            <a:schemeClr val="accent1">
              <a:alpha val="562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6FFEC18-2432-8E47-3AD6-41D5D85FD455}"/>
              </a:ext>
            </a:extLst>
          </p:cNvPr>
          <p:cNvCxnSpPr/>
          <p:nvPr/>
        </p:nvCxnSpPr>
        <p:spPr>
          <a:xfrm>
            <a:off x="7290486" y="3567550"/>
            <a:ext cx="13468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8B522AC-8B8A-4763-4A7E-E0723DF1FE54}"/>
              </a:ext>
            </a:extLst>
          </p:cNvPr>
          <p:cNvSpPr/>
          <p:nvPr/>
        </p:nvSpPr>
        <p:spPr>
          <a:xfrm rot="16200000" flipH="1">
            <a:off x="6134382" y="3306182"/>
            <a:ext cx="594621" cy="1717590"/>
          </a:xfrm>
          <a:prstGeom prst="rightBrace">
            <a:avLst>
              <a:gd name="adj1" fmla="val 60965"/>
              <a:gd name="adj2" fmla="val 51116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CB1C10-FBC7-C2BF-56C1-540F476B9291}"/>
              </a:ext>
            </a:extLst>
          </p:cNvPr>
          <p:cNvSpPr txBox="1"/>
          <p:nvPr/>
        </p:nvSpPr>
        <p:spPr>
          <a:xfrm>
            <a:off x="2539703" y="4531077"/>
            <a:ext cx="7782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/>
              <a:t>„Fenster“ hat feste Länge </a:t>
            </a:r>
            <a:r>
              <a:rPr lang="de-DE" sz="2400" dirty="0" err="1"/>
              <a:t>k</a:t>
            </a:r>
            <a:r>
              <a:rPr lang="de-DE" sz="2400" dirty="0"/>
              <a:t>,</a:t>
            </a:r>
          </a:p>
          <a:p>
            <a:pPr algn="ctr"/>
            <a:r>
              <a:rPr lang="de-DE" sz="2400" dirty="0"/>
              <a:t>entspr. Basensequenz = Read-Teil wird als „</a:t>
            </a:r>
            <a:r>
              <a:rPr lang="de-DE" sz="2400" b="1" dirty="0" err="1"/>
              <a:t>k-mer</a:t>
            </a:r>
            <a:r>
              <a:rPr lang="de-DE" sz="2400" dirty="0"/>
              <a:t>“ bezeichnet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17F152-2071-D055-7868-AE09FE02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7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3F94-7107-18A3-6096-8CB30DCC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46027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Probenanalyse: Klassifikation mittels gleitendem Fenster auf Reads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5D834-15B3-5C4C-2CC7-FD7C7C30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@SRR001666.1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IIIIIIIIIIIIIIIIIIIIIIIIIIIIII9IG9IC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4136339-C8F0-A056-EB1F-A397D4B7F7B3}"/>
              </a:ext>
            </a:extLst>
          </p:cNvPr>
          <p:cNvSpPr/>
          <p:nvPr/>
        </p:nvSpPr>
        <p:spPr>
          <a:xfrm>
            <a:off x="3682313" y="2294805"/>
            <a:ext cx="2323071" cy="337183"/>
          </a:xfrm>
          <a:prstGeom prst="rect">
            <a:avLst/>
          </a:prstGeom>
          <a:solidFill>
            <a:schemeClr val="accent1">
              <a:alpha val="562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E324ABA-DD42-C1AC-AD40-A9B4D44F7547}"/>
              </a:ext>
            </a:extLst>
          </p:cNvPr>
          <p:cNvCxnSpPr/>
          <p:nvPr/>
        </p:nvCxnSpPr>
        <p:spPr>
          <a:xfrm>
            <a:off x="6005384" y="2294805"/>
            <a:ext cx="13468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3DF407C4-0866-F5B9-E234-1B1897ADD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53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FCEF7-C369-0BE5-AB75-0E12C0F3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28" y="81016"/>
            <a:ext cx="10515600" cy="1325563"/>
          </a:xfrm>
        </p:spPr>
        <p:txBody>
          <a:bodyPr/>
          <a:lstStyle/>
          <a:p>
            <a:r>
              <a:rPr lang="de-DE" dirty="0"/>
              <a:t>Analyseprozess (vereinfacht)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6BFD2-5FFC-1ED3-894F-5DB5D17E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0759"/>
            <a:ext cx="10515600" cy="2866203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Im Labor: Analyse liefert DNA / RNA-Fragmente in </a:t>
            </a:r>
            <a:r>
              <a:rPr lang="de-DE" sz="2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fastq</a:t>
            </a: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-Dateien</a:t>
            </a:r>
          </a:p>
          <a:p>
            <a:pPr lvl="1"/>
            <a:r>
              <a:rPr lang="de-DE" sz="2000" dirty="0">
                <a:effectLst/>
                <a:latin typeface="+mj-lt"/>
                <a:ea typeface="Times New Roman" panose="02020603050405020304" pitchFamily="18" charset="0"/>
              </a:rPr>
              <a:t>Probengewinnung</a:t>
            </a:r>
          </a:p>
          <a:p>
            <a:pPr lvl="1"/>
            <a:r>
              <a:rPr lang="de-DE" sz="2000" dirty="0">
                <a:latin typeface="+mj-lt"/>
                <a:ea typeface="Times New Roman" panose="02020603050405020304" pitchFamily="18" charset="0"/>
              </a:rPr>
              <a:t>Probena</a:t>
            </a:r>
            <a:r>
              <a:rPr lang="de-DE" sz="2000" dirty="0">
                <a:effectLst/>
                <a:latin typeface="+mj-lt"/>
                <a:ea typeface="Times New Roman" panose="02020603050405020304" pitchFamily="18" charset="0"/>
              </a:rPr>
              <a:t>ufbereitung</a:t>
            </a:r>
          </a:p>
          <a:p>
            <a:pPr lvl="1"/>
            <a:r>
              <a:rPr lang="de-DE" sz="2000" dirty="0">
                <a:latin typeface="+mj-lt"/>
                <a:ea typeface="Times New Roman" panose="02020603050405020304" pitchFamily="18" charset="0"/>
              </a:rPr>
              <a:t>DNA / RNA </a:t>
            </a:r>
            <a:r>
              <a:rPr lang="de-DE" sz="2000" dirty="0" err="1">
                <a:latin typeface="+mj-lt"/>
                <a:ea typeface="Times New Roman" panose="02020603050405020304" pitchFamily="18" charset="0"/>
              </a:rPr>
              <a:t>Sequencing</a:t>
            </a:r>
            <a:r>
              <a:rPr lang="de-DE" sz="2000" dirty="0">
                <a:latin typeface="+mj-lt"/>
                <a:ea typeface="Times New Roman" panose="02020603050405020304" pitchFamily="18" charset="0"/>
              </a:rPr>
              <a:t> (z.B. mit aktuellen Geräten von </a:t>
            </a:r>
            <a:r>
              <a:rPr lang="de-DE" sz="2000" dirty="0" err="1">
                <a:latin typeface="+mj-lt"/>
                <a:ea typeface="Times New Roman" panose="02020603050405020304" pitchFamily="18" charset="0"/>
              </a:rPr>
              <a:t>Nanopore</a:t>
            </a:r>
            <a:r>
              <a:rPr lang="de-DE" sz="2000" dirty="0">
                <a:latin typeface="+mj-lt"/>
                <a:ea typeface="Times New Roman" panose="02020603050405020304" pitchFamily="18" charset="0"/>
              </a:rPr>
              <a:t>)</a:t>
            </a:r>
            <a:endParaRPr lang="de-DE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DE" sz="24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Software-basierte Analyse</a:t>
            </a: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: Zuordnung der DNA / RNA-Fragmente zu Lebewesen</a:t>
            </a:r>
            <a:endParaRPr lang="de-DE" sz="2000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Statistische Bewertung der Analyseergebnisse, insbes. </a:t>
            </a:r>
            <a:r>
              <a:rPr lang="de-DE" sz="24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welche </a:t>
            </a:r>
            <a:r>
              <a:rPr lang="de-DE" sz="2400" b="1" dirty="0" err="1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k-mere</a:t>
            </a:r>
            <a:r>
              <a:rPr lang="de-DE" sz="24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 von welcher </a:t>
            </a:r>
            <a:r>
              <a:rPr lang="de-DE" sz="2400" b="1" dirty="0" err="1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Taxid</a:t>
            </a:r>
            <a:r>
              <a:rPr lang="de-DE" sz="24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 wurden wie häufig gezählt</a:t>
            </a:r>
            <a:r>
              <a:rPr lang="de-DE" sz="3600" b="1" dirty="0">
                <a:effectLst/>
                <a:latin typeface="+mj-lt"/>
              </a:rPr>
              <a:t> </a:t>
            </a:r>
            <a:endParaRPr lang="de-DE" sz="3600" b="1" dirty="0">
              <a:latin typeface="+mj-lt"/>
            </a:endParaRP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41680AB-218D-5E2D-4A2A-F4A03AF1E3F7}"/>
              </a:ext>
            </a:extLst>
          </p:cNvPr>
          <p:cNvCxnSpPr>
            <a:cxnSpLocks/>
          </p:cNvCxnSpPr>
          <p:nvPr/>
        </p:nvCxnSpPr>
        <p:spPr>
          <a:xfrm>
            <a:off x="6563854" y="1971350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Reagenzgläser mit einfarbiger Füllung">
            <a:extLst>
              <a:ext uri="{FF2B5EF4-FFF2-40B4-BE49-F238E27FC236}">
                <a16:creationId xmlns:a16="http://schemas.microsoft.com/office/drawing/2014/main" id="{BFAB993C-058F-F531-D4F1-A28FD3BC2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123" y="1514150"/>
            <a:ext cx="914400" cy="914400"/>
          </a:xfrm>
          <a:prstGeom prst="rect">
            <a:avLst/>
          </a:prstGeom>
        </p:spPr>
      </p:pic>
      <p:pic>
        <p:nvPicPr>
          <p:cNvPr id="8" name="Grafik 7" descr="Computer mit einfarbiger Füllung">
            <a:extLst>
              <a:ext uri="{FF2B5EF4-FFF2-40B4-BE49-F238E27FC236}">
                <a16:creationId xmlns:a16="http://schemas.microsoft.com/office/drawing/2014/main" id="{474CCF38-BB2A-04EC-50D7-1BA091A39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1328" y="1515181"/>
            <a:ext cx="914400" cy="914400"/>
          </a:xfrm>
          <a:prstGeom prst="rect">
            <a:avLst/>
          </a:prstGeom>
        </p:spPr>
      </p:pic>
      <p:pic>
        <p:nvPicPr>
          <p:cNvPr id="9" name="Grafik 8" descr="Mikroskop mit einfarbiger Füllung">
            <a:extLst>
              <a:ext uri="{FF2B5EF4-FFF2-40B4-BE49-F238E27FC236}">
                <a16:creationId xmlns:a16="http://schemas.microsoft.com/office/drawing/2014/main" id="{F18B7138-70BA-E2E3-239F-2A484D542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8258" y="1514150"/>
            <a:ext cx="914400" cy="914400"/>
          </a:xfrm>
          <a:prstGeom prst="rect">
            <a:avLst/>
          </a:prstGeom>
        </p:spPr>
      </p:pic>
      <p:pic>
        <p:nvPicPr>
          <p:cNvPr id="11" name="Grafik 10" descr="Person mit Idee mit einfarbiger Füllung">
            <a:extLst>
              <a:ext uri="{FF2B5EF4-FFF2-40B4-BE49-F238E27FC236}">
                <a16:creationId xmlns:a16="http://schemas.microsoft.com/office/drawing/2014/main" id="{1629D6BA-8A2A-E748-9D46-BB214485DA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3460" y="1501793"/>
            <a:ext cx="914400" cy="914400"/>
          </a:xfrm>
          <a:prstGeom prst="rect">
            <a:avLst/>
          </a:prstGeom>
        </p:spPr>
      </p:pic>
      <p:pic>
        <p:nvPicPr>
          <p:cNvPr id="13" name="Grafik 12" descr="Tageskalender mit einfarbiger Füllung">
            <a:extLst>
              <a:ext uri="{FF2B5EF4-FFF2-40B4-BE49-F238E27FC236}">
                <a16:creationId xmlns:a16="http://schemas.microsoft.com/office/drawing/2014/main" id="{B36A61A7-9552-891D-AA85-17126BC1E0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2595" y="1489437"/>
            <a:ext cx="914400" cy="9144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50A717D-CEC8-14B4-C18F-A0FE392A221C}"/>
              </a:ext>
            </a:extLst>
          </p:cNvPr>
          <p:cNvSpPr/>
          <p:nvPr/>
        </p:nvSpPr>
        <p:spPr>
          <a:xfrm>
            <a:off x="2406296" y="2485924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1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CB5F44-E6C2-EF6D-4EFF-0B03A5669755}"/>
              </a:ext>
            </a:extLst>
          </p:cNvPr>
          <p:cNvSpPr/>
          <p:nvPr/>
        </p:nvSpPr>
        <p:spPr>
          <a:xfrm>
            <a:off x="5720501" y="2485924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2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0DD938-41EC-F930-FCAF-4E1385200F96}"/>
              </a:ext>
            </a:extLst>
          </p:cNvPr>
          <p:cNvSpPr/>
          <p:nvPr/>
        </p:nvSpPr>
        <p:spPr>
          <a:xfrm>
            <a:off x="8331894" y="2485924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3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2BB1AA1-8C50-8D89-A5E9-7DF425DE1E4F}"/>
              </a:ext>
            </a:extLst>
          </p:cNvPr>
          <p:cNvCxnSpPr>
            <a:cxnSpLocks/>
          </p:cNvCxnSpPr>
          <p:nvPr/>
        </p:nvCxnSpPr>
        <p:spPr>
          <a:xfrm>
            <a:off x="3874201" y="1969291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 descr="Datenbank mit einfarbiger Füllung">
            <a:extLst>
              <a:ext uri="{FF2B5EF4-FFF2-40B4-BE49-F238E27FC236}">
                <a16:creationId xmlns:a16="http://schemas.microsoft.com/office/drawing/2014/main" id="{142E4BBA-9676-7FF8-53BF-4C83278606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5880" y="1501793"/>
            <a:ext cx="914400" cy="9144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022EA43-8021-568E-E047-8C2D2E4350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5958BB51-B61D-1658-D7ED-0B7F7F7D4381}"/>
              </a:ext>
            </a:extLst>
          </p:cNvPr>
          <p:cNvSpPr txBox="1"/>
          <p:nvPr/>
        </p:nvSpPr>
        <p:spPr>
          <a:xfrm>
            <a:off x="3954150" y="2454977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Fastq</a:t>
            </a:r>
            <a:r>
              <a:rPr lang="de-DE" dirty="0"/>
              <a:t>-Datei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6D7DACE-6191-BFC6-C376-95EF309B6488}"/>
              </a:ext>
            </a:extLst>
          </p:cNvPr>
          <p:cNvSpPr txBox="1"/>
          <p:nvPr/>
        </p:nvSpPr>
        <p:spPr>
          <a:xfrm>
            <a:off x="6795833" y="2423763"/>
            <a:ext cx="84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Tabelle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9B24591-CEAD-BB7F-8464-4E544F2A7684}"/>
              </a:ext>
            </a:extLst>
          </p:cNvPr>
          <p:cNvSpPr txBox="1"/>
          <p:nvPr/>
        </p:nvSpPr>
        <p:spPr>
          <a:xfrm>
            <a:off x="5358128" y="1007964"/>
            <a:ext cx="1252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Genestrip /</a:t>
            </a:r>
          </a:p>
          <a:p>
            <a:r>
              <a:rPr lang="de-DE" dirty="0" err="1"/>
              <a:t>krakenUniq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1519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42CEC-C0C4-8BC8-C2AF-17EC0F04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9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sz="4000" dirty="0"/>
              <a:t>„Genestrip“:</a:t>
            </a:r>
            <a:br>
              <a:rPr lang="de-DE" sz="4000" dirty="0"/>
            </a:br>
            <a:r>
              <a:rPr lang="de-DE" sz="4000" dirty="0" err="1"/>
              <a:t>k</a:t>
            </a:r>
            <a:r>
              <a:rPr lang="de-DE" sz="4000" dirty="0"/>
              <a:t>-</a:t>
            </a:r>
            <a:r>
              <a:rPr lang="de-DE" sz="4000" dirty="0" err="1"/>
              <a:t>mer</a:t>
            </a:r>
            <a:r>
              <a:rPr lang="de-DE" sz="4000" dirty="0"/>
              <a:t>-basierte Analyse-Software der 3. Generation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A43AD8-16B3-E50A-D728-A60D4EDC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900" dirty="0">
                <a:hlinkClick r:id="rId2"/>
              </a:rPr>
              <a:t>https://github.com/pfeiferd/genestrip</a:t>
            </a:r>
            <a:endParaRPr lang="de-DE" sz="1900" dirty="0"/>
          </a:p>
          <a:p>
            <a:r>
              <a:rPr lang="de-DE" sz="1900" dirty="0"/>
              <a:t>Vorteile gegenüber „älterer“ Analyse-Software (aus den USA):</a:t>
            </a:r>
          </a:p>
          <a:p>
            <a:pPr lvl="1"/>
            <a:r>
              <a:rPr lang="de-DE" sz="1700" b="1" dirty="0"/>
              <a:t>Leicht(er) zu installieren und zu bedienen</a:t>
            </a:r>
            <a:r>
              <a:rPr lang="de-DE" sz="1700" dirty="0"/>
              <a:t>,</a:t>
            </a:r>
          </a:p>
          <a:p>
            <a:pPr lvl="1"/>
            <a:r>
              <a:rPr lang="de-DE" sz="1700" b="1" dirty="0"/>
              <a:t>Läuft auf jedem PC (braucht nur wenig Speicher / „schnell“)</a:t>
            </a:r>
          </a:p>
          <a:p>
            <a:pPr lvl="1"/>
            <a:r>
              <a:rPr lang="de-DE" sz="1700" b="1" dirty="0"/>
              <a:t>“Reichhaltige“ und informative Ergebnisdaten</a:t>
            </a:r>
          </a:p>
          <a:p>
            <a:pPr lvl="1"/>
            <a:r>
              <a:rPr lang="de-DE" sz="1700" dirty="0"/>
              <a:t>Die Erstellung von neuen, zweckgerichteten Analysedatenbanken ist vergleichsweise einfach</a:t>
            </a:r>
          </a:p>
          <a:p>
            <a:r>
              <a:rPr lang="de-DE" sz="1900" dirty="0"/>
              <a:t>Speziell im klinischen Kontext wäre ansonsten nur „</a:t>
            </a:r>
            <a:r>
              <a:rPr lang="de-DE" sz="1900" dirty="0" err="1"/>
              <a:t>krakenUniq</a:t>
            </a:r>
            <a:r>
              <a:rPr lang="de-DE" sz="1900" dirty="0"/>
              <a:t>“ geeignet, aber </a:t>
            </a:r>
            <a:endParaRPr lang="de-DE" sz="1700" dirty="0"/>
          </a:p>
          <a:p>
            <a:pPr lvl="1"/>
            <a:r>
              <a:rPr lang="de-DE" sz="1700" dirty="0"/>
              <a:t>Extreme Hardware-Anforderungen , bleibt sonst oft „hängen“ bei der Analyse</a:t>
            </a:r>
          </a:p>
          <a:p>
            <a:pPr lvl="1"/>
            <a:r>
              <a:rPr lang="de-DE" sz="1700" dirty="0"/>
              <a:t>Schwer zu installieren und zu konfigurieren</a:t>
            </a:r>
          </a:p>
          <a:p>
            <a:pPr lvl="1"/>
            <a:r>
              <a:rPr lang="de-DE" sz="1700" dirty="0"/>
              <a:t>Schwer zu überblickende Reports mit vielen irrelevanten Einträgen</a:t>
            </a:r>
          </a:p>
          <a:p>
            <a:r>
              <a:rPr lang="de-DE" sz="1900" dirty="0"/>
              <a:t>Andere Tools:</a:t>
            </a:r>
          </a:p>
          <a:p>
            <a:pPr lvl="1"/>
            <a:r>
              <a:rPr lang="de-DE" sz="1700" dirty="0"/>
              <a:t>Zu hohe Fehlerrate (insbes. „</a:t>
            </a:r>
            <a:r>
              <a:rPr lang="de-DE" sz="1700" dirty="0" err="1"/>
              <a:t>false</a:t>
            </a:r>
            <a:r>
              <a:rPr lang="de-DE" sz="1700" dirty="0"/>
              <a:t> Positives“)</a:t>
            </a:r>
          </a:p>
          <a:p>
            <a:pPr lvl="1"/>
            <a:r>
              <a:rPr lang="de-DE" sz="1700" dirty="0"/>
              <a:t>Zu „schwache“ Statistiken</a:t>
            </a:r>
          </a:p>
          <a:p>
            <a:pPr lvl="1"/>
            <a:endParaRPr lang="de-DE" sz="1700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FE9D06-680D-65E7-AA9B-22196856B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40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4059F-38BA-E6A8-B749-9224A497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Beispiel „Landwirtschaft“:</a:t>
            </a:r>
            <a:br>
              <a:rPr lang="de-DE" sz="4000" dirty="0"/>
            </a:br>
            <a:r>
              <a:rPr lang="de-DE" sz="4000" dirty="0"/>
              <a:t>Kooperation mit der „</a:t>
            </a:r>
            <a:r>
              <a:rPr lang="de-DE" sz="4000" dirty="0" err="1"/>
              <a:t>Experimenta</a:t>
            </a:r>
            <a:r>
              <a:rPr lang="de-DE" sz="4000" dirty="0"/>
              <a:t> Heilbronn“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9AD01E-7D3D-383E-7CB1-2057F7870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Überwachung von Schadpilzen im Weinberg aus Bodenproben</a:t>
            </a:r>
          </a:p>
          <a:p>
            <a:pPr lvl="1"/>
            <a:r>
              <a:rPr lang="de-DE" sz="2000" dirty="0"/>
              <a:t>Idee: Wenn in der Bodenprobe wenig Schadpilze gefunden werden, muss evtl. kein oder nur wenig Fungizid ausgebracht werden</a:t>
            </a:r>
          </a:p>
          <a:p>
            <a:pPr lvl="1"/>
            <a:r>
              <a:rPr lang="de-DE" sz="2000" dirty="0"/>
              <a:t>Hierzu die </a:t>
            </a:r>
            <a:r>
              <a:rPr lang="de-DE" sz="2000" dirty="0">
                <a:hlinkClick r:id="rId2"/>
              </a:rPr>
              <a:t>Genestrip Database für entspr. Schimmelpilze</a:t>
            </a:r>
            <a:endParaRPr lang="de-DE" sz="2000" dirty="0"/>
          </a:p>
          <a:p>
            <a:pPr lvl="1"/>
            <a:r>
              <a:rPr lang="de-DE" sz="2000" dirty="0"/>
              <a:t>Staatsweingut Weinsberg (nähe Heilbronn) wird eingebunden</a:t>
            </a:r>
          </a:p>
          <a:p>
            <a:pPr lvl="1"/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CA02C5D-7393-40DE-6F2F-642E1362B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6F053D1-BDBA-64F2-1CDA-187B6DCAE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20" y="2055813"/>
            <a:ext cx="5110480" cy="133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08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BFE1A-F416-4314-C38A-4B26A19D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1722" cy="1325563"/>
          </a:xfrm>
        </p:spPr>
        <p:txBody>
          <a:bodyPr>
            <a:normAutofit/>
          </a:bodyPr>
          <a:lstStyle/>
          <a:p>
            <a:r>
              <a:rPr lang="de-DE" dirty="0"/>
              <a:t>Beispiel „Pathogen-Analyse“ </a:t>
            </a:r>
            <a:br>
              <a:rPr lang="de-DE" dirty="0"/>
            </a:br>
            <a:r>
              <a:rPr lang="de-DE" dirty="0"/>
              <a:t>in / aus Zecken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8FD92-F586-F276-D8D8-E5BA2A9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Rohdaten (</a:t>
            </a:r>
            <a:r>
              <a:rPr lang="de-DE" dirty="0" err="1"/>
              <a:t>Fastq</a:t>
            </a:r>
            <a:r>
              <a:rPr lang="de-DE" dirty="0"/>
              <a:t>-Dateien) entsprechend:</a:t>
            </a:r>
          </a:p>
          <a:p>
            <a:pPr marL="457200" lvl="1" indent="0">
              <a:buNone/>
            </a:pPr>
            <a:r>
              <a:rPr lang="de-DE" dirty="0"/>
              <a:t>	</a:t>
            </a:r>
            <a:r>
              <a:rPr lang="de-DE" dirty="0">
                <a:hlinkClick r:id="rId2"/>
              </a:rPr>
              <a:t>https://www.nature.com/articles/s41598-023-37134-9</a:t>
            </a:r>
            <a:endParaRPr lang="de-DE" dirty="0"/>
          </a:p>
          <a:p>
            <a:r>
              <a:rPr lang="de-DE" dirty="0"/>
              <a:t>Beispiel-Ergebnisse von Genestrip:</a:t>
            </a:r>
          </a:p>
          <a:p>
            <a:pPr lvl="1"/>
            <a:r>
              <a:rPr lang="de-DE" dirty="0">
                <a:hlinkClick r:id="rId3"/>
              </a:rPr>
              <a:t>Zecke 3</a:t>
            </a:r>
            <a:endParaRPr lang="de-DE" dirty="0"/>
          </a:p>
          <a:p>
            <a:pPr lvl="1"/>
            <a:r>
              <a:rPr lang="de-DE" dirty="0">
                <a:hlinkClick r:id="rId4"/>
              </a:rPr>
              <a:t>Zecke 6</a:t>
            </a:r>
            <a:endParaRPr lang="de-DE" dirty="0"/>
          </a:p>
          <a:p>
            <a:r>
              <a:rPr lang="de-DE" dirty="0"/>
              <a:t>Pathogene können bis auf Spezies- oder </a:t>
            </a:r>
            <a:r>
              <a:rPr lang="de-DE" dirty="0" err="1"/>
              <a:t>Strain</a:t>
            </a:r>
            <a:r>
              <a:rPr lang="de-DE" dirty="0"/>
              <a:t>-Level gefunden werden</a:t>
            </a:r>
          </a:p>
          <a:p>
            <a:pPr lvl="1"/>
            <a:r>
              <a:rPr lang="de-DE" dirty="0"/>
              <a:t>Statistische Ergebnisse von Genestrip ermöglichen leicht eine klare Einschätzung</a:t>
            </a:r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5819FC-2A52-80C5-A56F-C5409DAFE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53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BFE1A-F416-4314-C38A-4B26A19D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Sequencing</a:t>
            </a:r>
            <a:r>
              <a:rPr lang="de-DE" dirty="0"/>
              <a:t> zur Infektionsdiagnostik</a:t>
            </a:r>
            <a:br>
              <a:rPr lang="de-DE" dirty="0"/>
            </a:br>
            <a:r>
              <a:rPr lang="de-DE" dirty="0"/>
              <a:t>in der Medizin (1)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8FD92-F586-F276-D8D8-E5BA2A9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/>
              <a:t>Beispiele in Deutschland:</a:t>
            </a:r>
          </a:p>
          <a:p>
            <a:r>
              <a:rPr lang="de-DE" dirty="0"/>
              <a:t>Beispiel Sepsis („Blutvergiftung“):</a:t>
            </a:r>
          </a:p>
          <a:p>
            <a:pPr marL="457200" lvl="1" indent="0">
              <a:buNone/>
            </a:pPr>
            <a:r>
              <a:rPr lang="de-DE" sz="2200" dirty="0">
                <a:hlinkClick r:id="rId2"/>
              </a:rPr>
              <a:t>https://www.igb.fraunhofer.de/de/forschung/in-vitro-diagnostik/next-generation-diagnostics/infektionsdiagnostik-mit-next-generation-sequencing.html</a:t>
            </a:r>
            <a:endParaRPr lang="de-DE" sz="2200" dirty="0"/>
          </a:p>
          <a:p>
            <a:r>
              <a:rPr lang="de-DE" dirty="0"/>
              <a:t>Pilot bei der Techniker Krankenkasse: </a:t>
            </a:r>
          </a:p>
          <a:p>
            <a:pPr marL="457200" lvl="1" indent="0">
              <a:buNone/>
            </a:pPr>
            <a:r>
              <a:rPr lang="de-DE" dirty="0">
                <a:hlinkClick r:id="rId3"/>
              </a:rPr>
              <a:t>https://www.tk.de/techniker/gesundheit-und-medizin/igv-vertraege/praezisionsmedizin-infektionsdiagnostik-2032576</a:t>
            </a:r>
            <a:endParaRPr lang="de-DE" dirty="0"/>
          </a:p>
          <a:p>
            <a:r>
              <a:rPr lang="de-DE" dirty="0"/>
              <a:t>Deutsches Startup für das Gebiet: </a:t>
            </a:r>
          </a:p>
          <a:p>
            <a:pPr marL="457200" lvl="1" indent="0">
              <a:buNone/>
            </a:pPr>
            <a:r>
              <a:rPr lang="de-DE" dirty="0">
                <a:hlinkClick r:id="rId4"/>
              </a:rPr>
              <a:t>https://noscendo.com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Aber wie so oft: Die USA hat die Nase vorn</a:t>
            </a:r>
          </a:p>
          <a:p>
            <a:r>
              <a:rPr lang="de-DE" dirty="0"/>
              <a:t>Führende Software-Systeme (wie </a:t>
            </a:r>
            <a:r>
              <a:rPr lang="de-DE" dirty="0" err="1"/>
              <a:t>krakenUniq</a:t>
            </a:r>
            <a:r>
              <a:rPr lang="de-DE" dirty="0"/>
              <a:t>) kommen von amerikanischen Universitäten</a:t>
            </a:r>
          </a:p>
          <a:p>
            <a:pPr marL="0" indent="0">
              <a:buNone/>
            </a:pPr>
            <a:r>
              <a:rPr lang="de-DE" dirty="0"/>
              <a:t>    Beispiel: </a:t>
            </a:r>
            <a:r>
              <a:rPr lang="de-DE" dirty="0">
                <a:hlinkClick r:id="rId5"/>
              </a:rPr>
              <a:t>https://salzberg-lab.org/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5819FC-2A52-80C5-A56F-C5409DAFE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BFE1A-F416-4314-C38A-4B26A19D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Sequencing</a:t>
            </a:r>
            <a:r>
              <a:rPr lang="de-DE" dirty="0"/>
              <a:t> zur Infektionsdiagnostik</a:t>
            </a:r>
            <a:br>
              <a:rPr lang="de-DE" dirty="0"/>
            </a:br>
            <a:r>
              <a:rPr lang="de-DE" dirty="0"/>
              <a:t>in der Medizin (2)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8FD92-F586-F276-D8D8-E5BA2A9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300" dirty="0"/>
              <a:t>Beispiele aus Publikationen:</a:t>
            </a:r>
          </a:p>
          <a:p>
            <a:r>
              <a:rPr lang="de-DE" sz="2300" dirty="0"/>
              <a:t>Nachweis der </a:t>
            </a:r>
            <a:r>
              <a:rPr lang="de-DE" sz="2300" dirty="0" err="1"/>
              <a:t>Babesiose</a:t>
            </a:r>
            <a:r>
              <a:rPr lang="de-DE" sz="2300" dirty="0"/>
              <a:t> beim Hund</a:t>
            </a:r>
          </a:p>
          <a:p>
            <a:pPr lvl="1"/>
            <a:r>
              <a:rPr lang="de-DE" sz="2300" dirty="0">
                <a:hlinkClick r:id="rId2"/>
              </a:rPr>
              <a:t>https://pubmed.ncbi.nlm.nih.gov/37837372/</a:t>
            </a:r>
            <a:endParaRPr lang="de-DE" sz="2300" dirty="0"/>
          </a:p>
          <a:p>
            <a:r>
              <a:rPr lang="de-DE" sz="2300" dirty="0"/>
              <a:t>Nachweis von </a:t>
            </a:r>
            <a:r>
              <a:rPr lang="de-DE" sz="2300" dirty="0" err="1"/>
              <a:t>Cryptosporidium</a:t>
            </a:r>
            <a:r>
              <a:rPr lang="de-DE" sz="2300" dirty="0"/>
              <a:t> beim Menschen</a:t>
            </a:r>
          </a:p>
          <a:p>
            <a:pPr lvl="1"/>
            <a:r>
              <a:rPr lang="de-DE" sz="2300" b="0" i="0" dirty="0">
                <a:effectLst/>
                <a:latin typeface="Arial" panose="020B0604020202020204" pitchFamily="34" charset="0"/>
                <a:hlinkClick r:id="rId3"/>
              </a:rPr>
              <a:t>https://www.ncbi.nlm.nih.gov/pmc/articles/PMC10478782/</a:t>
            </a:r>
            <a:endParaRPr lang="de-DE" sz="2300" dirty="0"/>
          </a:p>
          <a:p>
            <a:r>
              <a:rPr lang="de-DE" sz="2300" dirty="0"/>
              <a:t>Nachweis von Tuberkulose beim Mensch</a:t>
            </a:r>
          </a:p>
          <a:p>
            <a:pPr lvl="1"/>
            <a:r>
              <a:rPr lang="de-DE" sz="2300" dirty="0">
                <a:hlinkClick r:id="rId4"/>
              </a:rPr>
              <a:t>https://genomebiology.biomedcentral.com/articles/10.1186/s13059-018-1568-0</a:t>
            </a:r>
            <a:endParaRPr lang="de-DE" sz="2300" dirty="0"/>
          </a:p>
          <a:p>
            <a:r>
              <a:rPr lang="de-DE" sz="2300" dirty="0"/>
              <a:t>Nachweis von </a:t>
            </a:r>
            <a:r>
              <a:rPr lang="de-DE" sz="2300" dirty="0" err="1"/>
              <a:t>Bartonellen</a:t>
            </a:r>
            <a:r>
              <a:rPr lang="de-DE" sz="2300" dirty="0"/>
              <a:t> bei Rotwild</a:t>
            </a:r>
          </a:p>
          <a:p>
            <a:pPr lvl="1"/>
            <a:r>
              <a:rPr lang="de-DE" sz="2300" dirty="0">
                <a:hlinkClick r:id="rId5"/>
              </a:rPr>
              <a:t>https://www.ncbi.nlm.nih.gov/pmc/articles/PMC11218516/</a:t>
            </a:r>
            <a:endParaRPr lang="de-DE" sz="2300" dirty="0"/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5819FC-2A52-80C5-A56F-C5409DAFE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42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</Words>
  <Application>Microsoft Macintosh PowerPoint</Application>
  <PresentationFormat>Breitbild</PresentationFormat>
  <Paragraphs>160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Courier New</vt:lpstr>
      <vt:lpstr>Office</vt:lpstr>
      <vt:lpstr>Einstieg: Metagenomische Analyse mit Genestrip</vt:lpstr>
      <vt:lpstr>Mein Hintergrund / meine Ziele</vt:lpstr>
      <vt:lpstr>Nanopore-Technologie…</vt:lpstr>
      <vt:lpstr>Wie sehen die gewonnenen DNA-Daten aus?</vt:lpstr>
      <vt:lpstr>Wie kann man den Read einem Organismus überhaupt zuordnen?</vt:lpstr>
      <vt:lpstr>Taxonomiebaum der Biologie</vt:lpstr>
      <vt:lpstr>Herunterladen eine Genoms bei NCBI</vt:lpstr>
      <vt:lpstr>„Klassifikation“ von Reads…</vt:lpstr>
      <vt:lpstr>Software-Werkzeuge zur schnellen Klassifikation wie „krakenUniq“ oder „Genestrip“</vt:lpstr>
      <vt:lpstr>Datenbank-Generierung: Indizierung mittels gleitendem Fenster auf DNA-Datei</vt:lpstr>
      <vt:lpstr>Probenanalyse: Klassifikation mittels gleitendem Fenster auf Reads</vt:lpstr>
      <vt:lpstr>Analyseprozess (vereinfacht)</vt:lpstr>
      <vt:lpstr>„Genestrip“: k-mer-basierte Analyse-Software der 3. Generation</vt:lpstr>
      <vt:lpstr>Beispiel „Landwirtschaft“: Kooperation mit der „Experimenta Heilbronn“</vt:lpstr>
      <vt:lpstr>Beispiel „Pathogen-Analyse“  in / aus Zecken</vt:lpstr>
      <vt:lpstr>Sequencing zur Infektionsdiagnostik in der Medizin (1)</vt:lpstr>
      <vt:lpstr>Sequencing zur Infektionsdiagnostik in der Medizin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Metagenomische Erregerdiagnostik</dc:title>
  <dc:creator>Microsoft Office User</dc:creator>
  <cp:lastModifiedBy>Microsoft Office User</cp:lastModifiedBy>
  <cp:revision>74</cp:revision>
  <dcterms:created xsi:type="dcterms:W3CDTF">2023-02-15T09:00:27Z</dcterms:created>
  <dcterms:modified xsi:type="dcterms:W3CDTF">2024-07-30T10:12:37Z</dcterms:modified>
</cp:coreProperties>
</file>